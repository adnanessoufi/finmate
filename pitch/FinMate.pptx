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dcfcc3c5f884c2e" /><Relationship Type="http://schemas.openxmlformats.org/officeDocument/2006/relationships/extended-properties" Target="/docProps/app.xml" Id="R1fd710245ec94d18" /><Relationship Type="http://schemas.openxmlformats.org/officeDocument/2006/relationships/officeDocument" Target="/ppt/presentation.xml" Id="Ra694c83f39054f1a" /></Relationships>
</file>

<file path=ppt/presentation.xml><?xml version="1.0" encoding="utf-8"?>
<p:presentation xmlns:p="http://schemas.openxmlformats.org/presentationml/2006/main">
  <p:sldMasterIdLst>
    <p:sldMasterId xmlns:r="http://schemas.openxmlformats.org/officeDocument/2006/relationships" id="2147483648" r:id="Rba8fdfa98f7b49b0"/>
  </p:sldMasterIdLst>
  <p:notesMasterIdLst>
    <p:notesMasterId xmlns:r="http://schemas.openxmlformats.org/officeDocument/2006/relationships" r:id="R5fd5b8c7f8f943e8"/>
  </p:notesMasterIdLst>
  <p:sldIdLst>
    <p:sldId xmlns:r="http://schemas.openxmlformats.org/officeDocument/2006/relationships" id="256" r:id="Rb764a272436048c6"/>
    <p:sldId xmlns:r="http://schemas.openxmlformats.org/officeDocument/2006/relationships" id="257" r:id="R4d13312c35594f90"/>
    <p:sldId xmlns:r="http://schemas.openxmlformats.org/officeDocument/2006/relationships" id="258" r:id="Re57fa4d11d804acc"/>
    <p:sldId xmlns:r="http://schemas.openxmlformats.org/officeDocument/2006/relationships" id="259" r:id="R074ea895779342cf"/>
    <p:sldId xmlns:r="http://schemas.openxmlformats.org/officeDocument/2006/relationships" id="260" r:id="Rc42c50efde9340e9"/>
    <p:sldId xmlns:r="http://schemas.openxmlformats.org/officeDocument/2006/relationships" id="261" r:id="R9740468b3f654e60"/>
    <p:sldId xmlns:r="http://schemas.openxmlformats.org/officeDocument/2006/relationships" id="262" r:id="Rc9c366f870cd472f"/>
    <p:sldId xmlns:r="http://schemas.openxmlformats.org/officeDocument/2006/relationships" id="263" r:id="Ra0dfb04e440f4185"/>
    <p:sldId xmlns:r="http://schemas.openxmlformats.org/officeDocument/2006/relationships" id="264" r:id="Raa60829ab28445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a210236a89450c" /><Relationship Type="http://schemas.openxmlformats.org/officeDocument/2006/relationships/slideMaster" Target="/ppt/slideMasters/slideMaster1.xml" Id="Rba8fdfa98f7b49b0" /><Relationship Type="http://schemas.openxmlformats.org/officeDocument/2006/relationships/notesMaster" Target="/ppt/notesMasters/notesMaster1.xml" Id="R5fd5b8c7f8f943e8" /><Relationship Type="http://schemas.openxmlformats.org/officeDocument/2006/relationships/presProps" Target="/ppt/presProps.xml" Id="R8ccd515e5cba464d" /><Relationship Type="http://schemas.openxmlformats.org/officeDocument/2006/relationships/tableStyles" Target="/ppt/tableStyles.xml" Id="Re20b36f271b444e6" /><Relationship Type="http://schemas.openxmlformats.org/officeDocument/2006/relationships/slide" Target="/ppt/slides/slide1.xml" Id="Rb764a272436048c6" /><Relationship Type="http://schemas.openxmlformats.org/officeDocument/2006/relationships/slide" Target="/ppt/slides/slide2.xml" Id="R4d13312c35594f90" /><Relationship Type="http://schemas.openxmlformats.org/officeDocument/2006/relationships/slide" Target="/ppt/slides/slide3.xml" Id="Re57fa4d11d804acc" /><Relationship Type="http://schemas.openxmlformats.org/officeDocument/2006/relationships/slide" Target="/ppt/slides/slide4.xml" Id="R074ea895779342cf" /><Relationship Type="http://schemas.openxmlformats.org/officeDocument/2006/relationships/slide" Target="/ppt/slides/slide5.xml" Id="Rc42c50efde9340e9" /><Relationship Type="http://schemas.openxmlformats.org/officeDocument/2006/relationships/slide" Target="/ppt/slides/slide6.xml" Id="R9740468b3f654e60" /><Relationship Type="http://schemas.openxmlformats.org/officeDocument/2006/relationships/slide" Target="/ppt/slides/slide7.xml" Id="Rc9c366f870cd472f" /><Relationship Type="http://schemas.openxmlformats.org/officeDocument/2006/relationships/slide" Target="/ppt/slides/slide8.xml" Id="Ra0dfb04e440f4185" /><Relationship Type="http://schemas.openxmlformats.org/officeDocument/2006/relationships/slide" Target="/ppt/slides/slide9.xml" Id="Raa60829ab28445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8aa1405fa6425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261ccc4c614eb2" /><Relationship Type="http://schemas.openxmlformats.org/officeDocument/2006/relationships/notesMaster" Target="/ppt/notesMasters/notesMaster1.xml" Id="Red4f119b26cb4ed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1a4a08ae054ffb" /><Relationship Type="http://schemas.openxmlformats.org/officeDocument/2006/relationships/notesMaster" Target="/ppt/notesMasters/notesMaster1.xml" Id="R404f5fcb6b5344e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b18501d6d045d8" /><Relationship Type="http://schemas.openxmlformats.org/officeDocument/2006/relationships/notesMaster" Target="/ppt/notesMasters/notesMaster1.xml" Id="R158a861c304641c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a6e807d469e4162" /><Relationship Type="http://schemas.openxmlformats.org/officeDocument/2006/relationships/notesMaster" Target="/ppt/notesMasters/notesMaster1.xml" Id="Ra546642f9f6c4750"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410b1fe6884e2c" /><Relationship Type="http://schemas.openxmlformats.org/officeDocument/2006/relationships/notesMaster" Target="/ppt/notesMasters/notesMaster1.xml" Id="R62e17037b0404b0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962f35ef7d94a91" /><Relationship Type="http://schemas.openxmlformats.org/officeDocument/2006/relationships/notesMaster" Target="/ppt/notesMasters/notesMaster1.xml" Id="R140c496eacb642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c94774aa2647d5" /><Relationship Type="http://schemas.openxmlformats.org/officeDocument/2006/relationships/notesMaster" Target="/ppt/notesMasters/notesMaster1.xml" Id="R100175aa0e1d4437"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6dcaba1a5b487a" /><Relationship Type="http://schemas.openxmlformats.org/officeDocument/2006/relationships/notesMaster" Target="/ppt/notesMasters/notesMaster1.xml" Id="R1409baf19f2942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47334cacf14b1a" /><Relationship Type="http://schemas.openxmlformats.org/officeDocument/2006/relationships/notesMaster" Target="/ppt/notesMasters/notesMaster1.xml" Id="R714a150909f1466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seconds. FinMate is an AI financial agent for international students. It combines tuition planning, living budgets and money from home. All payment execution is simulated. Source: local application and https://fintechathon.g-ican.com/#/en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This is an illustrative account, not a real customer. EUR 2,840, GBP 1,200 and CNY 17,670 are entered planning snapshots. Tuition is EUR 2,300. At the fixed illustrative rate and fees, CNY alone is slightly short. GBP is used only when permitted. Source: backend/engine.mjs and the synthetic screenshot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Actual app screenshot from the isolated synthetic review account on 11 October 2026. It shows the complete tuition workflow: invoice check, explicitly allowed accounts, deadline and living-reserve constraints, exact review and separate approval. New balances, invoice details or simulated rates require fresh review. Source: backend/mission.mjs and submission/assets/tuition-workflow.png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is a separate controlled deadline example, with tuition due 12 October 2026. A fee-only method chooses Bank wire at EUR 6.92, arriving 16 October and missing the deadline. FinMate chooses an eligible Student transfer at EUR 13.88, arriving 12 October. These are synthetic quotes, not real provider prices or a universal savings claim. Source: docs/agent-benchmark.json controlledBaseline.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In the illustrative CNY-first combined funding plan, EUR 2,030 of monthly essentials and the saved buffer are protected, while EUR 2,840 remains after tuition. This is distinct from the long-term emergency-buffer threshold. Expected income does not count as current funding. Source: backend/engine.mjs and synthetic payment screenshot.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Actual payment-review screenshot from the synthetic account on 11 October 2026. The model can read, compare and prepare, but cannot approve, execute, credit funds or clear Guardian checks. The user checks recipient, reference, contributions, costs and reserve, then confirms separately with a payment PIN. Changed or expired quotes fail closed. The screenshot is cropped to the review details; PIN controls are below the captured portion. Source: backend/security.mjs, backend/engine.mjs and submission/assets/exact-payment-review.png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Actual screenshot of the grounded Chinese assistant answer from a synthetic account on 11 October 2026. English and Chinese explanations use the same deterministic calculations and approval controls. App navigation and approval forms remain English. ECB reference observations carry a source and date and are informational. They never change simulated payment quotes. Source: backend/agent.mjs, backend/reference-rates.mjs and https://www.ecb.europa.eu/stats/policy_and_exchange_rates/euro_reference_exchange_rates/html/index.en.html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All 125 current automated tests passed in the workspace on 12 October 2026 after removing obsolete transfer helpers and their four tests. The live evaluation on 11 October used 24 synthetic scenarios repeated three times; 72 of 72 runs passed their defined checks. Human review found a misleading explanation outside those checks; the calculation-based answer was corrected and the benchmark rerun. Later smoke checks had provider failures, including HTTP 429, retained in the report. These results do not establish general accuracy or safety and do not include a real-student study. Sources: docs/evaluation.md, docs/agent-benchmark.json and docs/live-model-evaluation.json.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FinMate is a working local sandbox with no bank connection, real funds movement or completed student study. The slide proposes testing with five to eight international students. This is future work, not completed validation. Source for current limitations: docs/security.md.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8efbd84fbb42c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8d3a93985d1455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a618ffbeef64e3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fd88f1f348e40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fac2c5cf83549d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cd21bce52734f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8F6B783-9D07-4610-AB92-BC76646783C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764120-42DC-40A8-88C9-3857D854EB0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A2FE827-44A4-4739-AA26-024ECB45FD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14B304-DCF1-47D9-A308-8C208E3D249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4F29488-C920-45F8-837F-E9E46381D06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B89CF56-0EC5-483E-B387-3172A721B4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CC6DEA-4A55-424C-AE76-72F1089A62F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BA86531-B1F8-42B2-B618-19E8A1922D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B8B149-C8EB-4FAB-9501-E2198A6065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ECA6697-FE5C-4DCC-A896-3E77DAFCFA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f446efc0dd4732" /><Relationship Type="http://schemas.openxmlformats.org/officeDocument/2006/relationships/slideLayout" Target="/ppt/slideLayouts/slideLayout1.xml" Id="Ra1dd64496284426f" /><Relationship Type="http://schemas.openxmlformats.org/officeDocument/2006/relationships/slideLayout" Target="/ppt/slideLayouts/slideLayout2.xml" Id="Rb9fd506fcb344cc3" /><Relationship Type="http://schemas.openxmlformats.org/officeDocument/2006/relationships/slideLayout" Target="/ppt/slideLayouts/slideLayout3.xml" Id="R39e83dee83a64d0f" /><Relationship Type="http://schemas.openxmlformats.org/officeDocument/2006/relationships/slideLayout" Target="/ppt/slideLayouts/slideLayout4.xml" Id="R1c4902b0e2b24b88" /><Relationship Type="http://schemas.openxmlformats.org/officeDocument/2006/relationships/slideLayout" Target="/ppt/slideLayouts/slideLayout5.xml" Id="R9a8815ae423a4e3b" /><Relationship Type="http://schemas.openxmlformats.org/officeDocument/2006/relationships/slideLayout" Target="/ppt/slideLayouts/slideLayout6.xml" Id="R807981016c1c41f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dd64496284426f"/>
    <p:sldLayoutId xmlns:r="http://schemas.openxmlformats.org/officeDocument/2006/relationships" id="2147483650" r:id="Rb9fd506fcb344cc3"/>
    <p:sldLayoutId xmlns:r="http://schemas.openxmlformats.org/officeDocument/2006/relationships" id="2147483651" r:id="R39e83dee83a64d0f"/>
    <p:sldLayoutId xmlns:r="http://schemas.openxmlformats.org/officeDocument/2006/relationships" id="2147483652" r:id="R1c4902b0e2b24b88"/>
    <p:sldLayoutId xmlns:r="http://schemas.openxmlformats.org/officeDocument/2006/relationships" id="2147483653" r:id="R9a8815ae423a4e3b"/>
    <p:sldLayoutId xmlns:r="http://schemas.openxmlformats.org/officeDocument/2006/relationships" id="2147483654" r:id="R807981016c1c41f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a7b3791a18a488e" /><Relationship Type="http://schemas.openxmlformats.org/officeDocument/2006/relationships/image" Target="/ppt/media/image.png" Id="Ra67c336787364964" /><Relationship Type="http://schemas.openxmlformats.org/officeDocument/2006/relationships/notesSlide" Target="/ppt/notesSlides/notesSlide1.xml" Id="R368d089bbb164c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1376ef156b45ba" /><Relationship Type="http://schemas.openxmlformats.org/officeDocument/2006/relationships/image" Target="/ppt/media/image2.png" Id="Rf20be8933aa247c3" /><Relationship Type="http://schemas.openxmlformats.org/officeDocument/2006/relationships/notesSlide" Target="/ppt/notesSlides/notesSlide2.xml" Id="Rf5c39d4c7ae341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85801ed728e4fda" /><Relationship Type="http://schemas.openxmlformats.org/officeDocument/2006/relationships/image" Target="/ppt/media/image3.png" Id="Rce1d559bc92f4cb5" /><Relationship Type="http://schemas.openxmlformats.org/officeDocument/2006/relationships/notesSlide" Target="/ppt/notesSlides/notesSlide3.xml" Id="R034990bdbd024cc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1fd3c2ebd564416" /><Relationship Type="http://schemas.openxmlformats.org/officeDocument/2006/relationships/image" Target="/ppt/media/image4.png" Id="Rd2303e40e2b64c57" /><Relationship Type="http://schemas.openxmlformats.org/officeDocument/2006/relationships/notesSlide" Target="/ppt/notesSlides/notesSlide4.xml" Id="Rcbdc87bfdde5446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56a43cce2f24c2d" /><Relationship Type="http://schemas.openxmlformats.org/officeDocument/2006/relationships/image" Target="/ppt/media/image5.png" Id="Rec65f96c14e8410a" /><Relationship Type="http://schemas.openxmlformats.org/officeDocument/2006/relationships/notesSlide" Target="/ppt/notesSlides/notesSlide5.xml" Id="R5bfc085736d1419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f626a37c1e0453b" /><Relationship Type="http://schemas.openxmlformats.org/officeDocument/2006/relationships/image" Target="/ppt/media/image6.png" Id="R6db695b2b6cf4671" /><Relationship Type="http://schemas.openxmlformats.org/officeDocument/2006/relationships/notesSlide" Target="/ppt/notesSlides/notesSlide6.xml" Id="Rfbb34eb02a7447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e3e9799dd2f46e3" /><Relationship Type="http://schemas.openxmlformats.org/officeDocument/2006/relationships/image" Target="/ppt/media/image7.png" Id="R08b7edd315444e2e" /><Relationship Type="http://schemas.openxmlformats.org/officeDocument/2006/relationships/notesSlide" Target="/ppt/notesSlides/notesSlide7.xml" Id="R8992f6b76c074fb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e7ce5635f124688" /><Relationship Type="http://schemas.openxmlformats.org/officeDocument/2006/relationships/image" Target="/ppt/media/image8.png" Id="Rb49891d7b95a449f" /><Relationship Type="http://schemas.openxmlformats.org/officeDocument/2006/relationships/notesSlide" Target="/ppt/notesSlides/notesSlide8.xml" Id="Ra08b13200a6844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418466f03f47ba" /><Relationship Type="http://schemas.openxmlformats.org/officeDocument/2006/relationships/image" Target="/ppt/media/image9.png" Id="R4c98baec3da44c57" /><Relationship Type="http://schemas.openxmlformats.org/officeDocument/2006/relationships/notesSlide" Target="/ppt/notesSlides/notesSlide9.xml" Id="R262b1100469b445e"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0AB8329-42EE-48DB-A653-D11DFF65B8BE}"/>
              </a:ext>
            </a:extLst>
          </p:cNvPr>
          <p:cNvPicPr>
            <a:picLocks xmlns:a="http://schemas.openxmlformats.org/drawingml/2006/main" noChangeAspect="1"/>
          </p:cNvPicPr>
          <p:nvPr/>
        </p:nvPicPr>
        <p:blipFill>
          <a:blip xmlns:r="http://schemas.openxmlformats.org/officeDocument/2006/relationships" xmlns:a="http://schemas.openxmlformats.org/drawingml/2006/main" r:embed="Ra67c336787364964"/>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971138918"/>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B89AE44-90CD-4F12-9434-6039212475C5}"/>
              </a:ext>
            </a:extLst>
          </p:cNvPr>
          <p:cNvPicPr>
            <a:picLocks xmlns:a="http://schemas.openxmlformats.org/drawingml/2006/main" noChangeAspect="1"/>
          </p:cNvPicPr>
          <p:nvPr/>
        </p:nvPicPr>
        <p:blipFill>
          <a:blip xmlns:r="http://schemas.openxmlformats.org/officeDocument/2006/relationships" xmlns:a="http://schemas.openxmlformats.org/drawingml/2006/main" r:embed="Rf20be8933aa247c3"/>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8887753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5DEBF8F-6FB8-40E7-9FB9-E98051ABF247}"/>
              </a:ext>
            </a:extLst>
          </p:cNvPr>
          <p:cNvPicPr>
            <a:picLocks xmlns:a="http://schemas.openxmlformats.org/drawingml/2006/main" noChangeAspect="1"/>
          </p:cNvPicPr>
          <p:nvPr/>
        </p:nvPicPr>
        <p:blipFill>
          <a:blip xmlns:r="http://schemas.openxmlformats.org/officeDocument/2006/relationships" xmlns:a="http://schemas.openxmlformats.org/drawingml/2006/main" r:embed="Rce1d559bc92f4c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165549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8D92A5-B21A-4FEF-BA46-25A4C9118848}"/>
              </a:ext>
            </a:extLst>
          </p:cNvPr>
          <p:cNvPicPr>
            <a:picLocks xmlns:a="http://schemas.openxmlformats.org/drawingml/2006/main" noChangeAspect="1"/>
          </p:cNvPicPr>
          <p:nvPr/>
        </p:nvPicPr>
        <p:blipFill>
          <a:blip xmlns:r="http://schemas.openxmlformats.org/officeDocument/2006/relationships" xmlns:a="http://schemas.openxmlformats.org/drawingml/2006/main" r:embed="Rd2303e40e2b64c57"/>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1267385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8344562-3B5E-4964-9E5A-AC1F29BB7A2D}"/>
              </a:ext>
            </a:extLst>
          </p:cNvPr>
          <p:cNvPicPr>
            <a:picLocks xmlns:a="http://schemas.openxmlformats.org/drawingml/2006/main" noChangeAspect="1"/>
          </p:cNvPicPr>
          <p:nvPr/>
        </p:nvPicPr>
        <p:blipFill>
          <a:blip xmlns:r="http://schemas.openxmlformats.org/officeDocument/2006/relationships" xmlns:a="http://schemas.openxmlformats.org/drawingml/2006/main" r:embed="Rec65f96c14e8410a"/>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266146123"/>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BDB2B6D-F90E-4EAB-9D5E-071C305C0985}"/>
              </a:ext>
            </a:extLst>
          </p:cNvPr>
          <p:cNvPicPr>
            <a:picLocks xmlns:a="http://schemas.openxmlformats.org/drawingml/2006/main" noChangeAspect="1"/>
          </p:cNvPicPr>
          <p:nvPr/>
        </p:nvPicPr>
        <p:blipFill>
          <a:blip xmlns:r="http://schemas.openxmlformats.org/officeDocument/2006/relationships" xmlns:a="http://schemas.openxmlformats.org/drawingml/2006/main" r:embed="R6db695b2b6cf46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15983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1D13192-A42D-4394-B535-BCE30C849621}"/>
              </a:ext>
            </a:extLst>
          </p:cNvPr>
          <p:cNvPicPr>
            <a:picLocks xmlns:a="http://schemas.openxmlformats.org/drawingml/2006/main" noChangeAspect="1"/>
          </p:cNvPicPr>
          <p:nvPr/>
        </p:nvPicPr>
        <p:blipFill>
          <a:blip xmlns:r="http://schemas.openxmlformats.org/officeDocument/2006/relationships" xmlns:a="http://schemas.openxmlformats.org/drawingml/2006/main" r:embed="R08b7edd315444e2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942617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9B69CDB-C4D8-4224-9A35-897F95886C3B}"/>
              </a:ext>
            </a:extLst>
          </p:cNvPr>
          <p:cNvPicPr>
            <a:picLocks xmlns:a="http://schemas.openxmlformats.org/drawingml/2006/main" noChangeAspect="1"/>
          </p:cNvPicPr>
          <p:nvPr/>
        </p:nvPicPr>
        <p:blipFill>
          <a:blip xmlns:r="http://schemas.openxmlformats.org/officeDocument/2006/relationships" xmlns:a="http://schemas.openxmlformats.org/drawingml/2006/main" r:embed="Rb49891d7b95a449f"/>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Tree>
    <p:extLst>
      <p:ext uri="{BB962C8B-B14F-4D97-AF65-F5344CB8AC3E}">
        <p14:creationId xmlns:p14="http://schemas.microsoft.com/office/powerpoint/2010/main" val="211223017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8484CC9-A192-46A7-B497-C02405579981}"/>
              </a:ext>
            </a:extLst>
          </p:cNvPr>
          <p:cNvPicPr>
            <a:picLocks xmlns:a="http://schemas.openxmlformats.org/drawingml/2006/main" noChangeAspect="1"/>
          </p:cNvPicPr>
          <p:nvPr/>
        </p:nvPicPr>
        <p:blipFill>
          <a:blip xmlns:r="http://schemas.openxmlformats.org/officeDocument/2006/relationships" xmlns:a="http://schemas.openxmlformats.org/drawingml/2006/main" r:embed="R4c98baec3da44c57"/>
          <a:stretch xmlns:a="http://schemas.openxmlformats.org/drawingml/2006/main"/>
        </p:blipFill>
        <p:spPr>
          <a:xfrm xmlns:a="http://schemas.openxmlformats.org/drawingml/2006/main">
            <a:off x="6569" y="0"/>
            <a:ext cx="12178862" cy="6858000"/>
          </a:xfrm>
          <a:prstGeom xmlns:a="http://schemas.openxmlformats.org/drawingml/2006/main" prst="rect">
            <a:avLst/>
          </a:prstGeom>
        </p:spPr>
      </p:pic>
    </p:spTree>
    <p:extLst>
      <p:ext uri="{BB962C8B-B14F-4D97-AF65-F5344CB8AC3E}">
        <p14:creationId xmlns:p14="http://schemas.microsoft.com/office/powerpoint/2010/main" val="12024907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2026-10-14T21:49:46.6520000Z</dcterms:created>
  <dcterms:modified xsi:type="dcterms:W3CDTF">2026-10-14T21:49:46.6520000Z</dcterms:modified>
</coreProperties>
</file>