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4e5fb512b14ee6" /><Relationship Type="http://schemas.openxmlformats.org/officeDocument/2006/relationships/extended-properties" Target="/docProps/app.xml" Id="Ra99740b9a88f4648" /><Relationship Type="http://schemas.openxmlformats.org/officeDocument/2006/relationships/officeDocument" Target="/ppt/presentation.xml" Id="R42dbb4201c684f30" /></Relationships>
</file>

<file path=ppt/presentation.xml><?xml version="1.0" encoding="utf-8"?>
<p:presentation xmlns:p="http://schemas.openxmlformats.org/presentationml/2006/main">
  <p:sldMasterIdLst>
    <p:sldMasterId xmlns:r="http://schemas.openxmlformats.org/officeDocument/2006/relationships" id="2147483648" r:id="Rd93e07937b6f4b4c"/>
  </p:sldMasterIdLst>
  <p:notesMasterIdLst>
    <p:notesMasterId xmlns:r="http://schemas.openxmlformats.org/officeDocument/2006/relationships" r:id="R9648a0bcd3d74606"/>
  </p:notesMasterIdLst>
  <p:sldIdLst>
    <p:sldId xmlns:r="http://schemas.openxmlformats.org/officeDocument/2006/relationships" id="256" r:id="R42f1d4e3e6f44f46"/>
    <p:sldId xmlns:r="http://schemas.openxmlformats.org/officeDocument/2006/relationships" id="257" r:id="Rc1c8174a6fcf4ffd"/>
    <p:sldId xmlns:r="http://schemas.openxmlformats.org/officeDocument/2006/relationships" id="258" r:id="Rf5afeafd0d254d8d"/>
    <p:sldId xmlns:r="http://schemas.openxmlformats.org/officeDocument/2006/relationships" id="259" r:id="R9448ae8c75714e35"/>
    <p:sldId xmlns:r="http://schemas.openxmlformats.org/officeDocument/2006/relationships" id="260" r:id="Rc69ef9c5856e4df2"/>
    <p:sldId xmlns:r="http://schemas.openxmlformats.org/officeDocument/2006/relationships" id="261" r:id="Rfb670ff0326c4940"/>
    <p:sldId xmlns:r="http://schemas.openxmlformats.org/officeDocument/2006/relationships" id="262" r:id="R1366103259814490"/>
    <p:sldId xmlns:r="http://schemas.openxmlformats.org/officeDocument/2006/relationships" id="263" r:id="R5fa8f5ec9b354b62"/>
    <p:sldId xmlns:r="http://schemas.openxmlformats.org/officeDocument/2006/relationships" id="264" r:id="R511080be61af4c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f04df40f50424b" /><Relationship Type="http://schemas.openxmlformats.org/officeDocument/2006/relationships/slideMaster" Target="/ppt/slideMasters/slideMaster1.xml" Id="Rd93e07937b6f4b4c" /><Relationship Type="http://schemas.openxmlformats.org/officeDocument/2006/relationships/notesMaster" Target="/ppt/notesMasters/notesMaster1.xml" Id="R9648a0bcd3d74606" /><Relationship Type="http://schemas.openxmlformats.org/officeDocument/2006/relationships/presProps" Target="/ppt/presProps.xml" Id="R8c8b659d21714502" /><Relationship Type="http://schemas.openxmlformats.org/officeDocument/2006/relationships/tableStyles" Target="/ppt/tableStyles.xml" Id="Rb6d5bd776d0b42c3" /><Relationship Type="http://schemas.openxmlformats.org/officeDocument/2006/relationships/slide" Target="/ppt/slides/slide1.xml" Id="R42f1d4e3e6f44f46" /><Relationship Type="http://schemas.openxmlformats.org/officeDocument/2006/relationships/slide" Target="/ppt/slides/slide2.xml" Id="Rc1c8174a6fcf4ffd" /><Relationship Type="http://schemas.openxmlformats.org/officeDocument/2006/relationships/slide" Target="/ppt/slides/slide3.xml" Id="Rf5afeafd0d254d8d" /><Relationship Type="http://schemas.openxmlformats.org/officeDocument/2006/relationships/slide" Target="/ppt/slides/slide4.xml" Id="R9448ae8c75714e35" /><Relationship Type="http://schemas.openxmlformats.org/officeDocument/2006/relationships/slide" Target="/ppt/slides/slide5.xml" Id="Rc69ef9c5856e4df2" /><Relationship Type="http://schemas.openxmlformats.org/officeDocument/2006/relationships/slide" Target="/ppt/slides/slide6.xml" Id="Rfb670ff0326c4940" /><Relationship Type="http://schemas.openxmlformats.org/officeDocument/2006/relationships/slide" Target="/ppt/slides/slide7.xml" Id="R1366103259814490" /><Relationship Type="http://schemas.openxmlformats.org/officeDocument/2006/relationships/slide" Target="/ppt/slides/slide8.xml" Id="R5fa8f5ec9b354b62" /><Relationship Type="http://schemas.openxmlformats.org/officeDocument/2006/relationships/slide" Target="/ppt/slides/slide9.xml" Id="R511080be61af4c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71ade7e3f944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be0c3cef1c46ee" /><Relationship Type="http://schemas.openxmlformats.org/officeDocument/2006/relationships/notesMaster" Target="/ppt/notesMasters/notesMaster1.xml" Id="Recef6b2b3bac47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a57feaa3b64a05" /><Relationship Type="http://schemas.openxmlformats.org/officeDocument/2006/relationships/notesMaster" Target="/ppt/notesMasters/notesMaster1.xml" Id="Rf75cf3ab17db44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460a307b224cb1" /><Relationship Type="http://schemas.openxmlformats.org/officeDocument/2006/relationships/notesMaster" Target="/ppt/notesMasters/notesMaster1.xml" Id="R571b5be8402341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4624c986ef4366" /><Relationship Type="http://schemas.openxmlformats.org/officeDocument/2006/relationships/notesMaster" Target="/ppt/notesMasters/notesMaster1.xml" Id="Rd4db51a1ef514a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b33a95570c49a1" /><Relationship Type="http://schemas.openxmlformats.org/officeDocument/2006/relationships/notesMaster" Target="/ppt/notesMasters/notesMaster1.xml" Id="Rbee86f0941f848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947195c6b5427c" /><Relationship Type="http://schemas.openxmlformats.org/officeDocument/2006/relationships/notesMaster" Target="/ppt/notesMasters/notesMaster1.xml" Id="Ra8f56568499f4e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5af5452d474530" /><Relationship Type="http://schemas.openxmlformats.org/officeDocument/2006/relationships/notesMaster" Target="/ppt/notesMasters/notesMaster1.xml" Id="Rc865212aa2b74b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21cc33475441a6" /><Relationship Type="http://schemas.openxmlformats.org/officeDocument/2006/relationships/notesMaster" Target="/ppt/notesMasters/notesMaster1.xml" Id="R96dd3af0a93844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88d8b85f614387" /><Relationship Type="http://schemas.openxmlformats.org/officeDocument/2006/relationships/notesMaster" Target="/ppt/notesMasters/notesMaster1.xml" Id="R59acb9c21cb34c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FinMate helps international students make tuition and currency decisions while protecting living funds. The prototype uses a live model with deterministic financial tools and separately approved simulated execution. Sources: https://fintechathon.g-ican.com/#/en and local application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Describe this as a synthetic example, not a surveyed student. The student has entered balances, tuition due on 1 November and expected income delayed two weeks. The challenge is choosing permitted accounts while keeping euros for living costs. No real bank connection is claimed. Source: synthetic review account and backend/engine.mjs.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The workflow starts with current balances and an exact invoice. It identifies blockers, uses only permitted accounts and shows eligible and rejected alternatives. Rebuilding highlights changed settings and routes. Preparation requires reviewed workflow consent. Approval still happens in a separate PIN form. Source: backend/mission.mjs and current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This controlled comparison uses tuition due 12 October. A fee-only baseline chooses bank wire, which arrives late. FinMate first applies deadline, funds and living-reserve constraints, then ranks eligible routes by fee. These are illustrative provider fees, not a claim of real-world savings or global allocation optimality. Source: docs/agent-benchmark.json controlledBaseline.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The agent may read, compare, forecast and prepare. It has no tool to approve, execute, credit funds, clear Guardian changes or read credentials. The user sees recipient, account, invoice reference, every funding contribution and protected reserve. PIN confirmation binds to the exact draft. Changed state or an expired quote prevents execution. Source: backend/security.mjs, backend/engine.mjs and backend/agent.mjs.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ECB reference rates are informational and carry an observation date, retrieval status and stale-data label. A validated packaged observation allows offline judging. Reference updates never change execution quotes or approved amounts. Balances remain manual snapshots. Source: backend/reference-rates.mjs; https://www.ecb.europa.eu/stats/policy_and_exchange_rates/euro_reference_exchange_rates/html/index.en.html.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assistant and tuition workflow support English and simplified Chinese explanations. Currency codes, account identifiers, dates and payment amounts remain exact. Affordability conclusions are rendered from tool calculations so the payment-time living reserve and long-term emergency buffer are not confused. The broader navigation and approval forms remain English. Source: backend/agent.mjs and 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There are 129 deterministic tests after this update. The live agent evaluation uses 24 locally authored scenario variants repeated three times with synthetic data. Checks cover completion, interaction and security outcomes. The initial report passed assertions but human review caught an imprecise buffer explanation. We preserved that report, grounded affordability output and reran the set. These results are not a general safety rate, independent held-out benchmark or student study. Sources: docs/agent-benchmark.json, docs/benchmark-human-review.md and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FinMate is a working local financial planning and execution sandbox. It does not authenticate banks or universities, receive real funds, offer guaranteed exchange prices or complete production KYC. The next validation is a small, consenting international-student study, with materials prepared but no participants claimed. Real payment deployment would require licensed integrations, reconciliation, external key management and jurisdiction-specific compliance review. Sources: docs/student-study.md and docs/security.md.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bd5ec1d8e845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9e9ef3b06d4f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acc16cf7ca42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168d8deb1448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0559add76b43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85e95f44c848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7D999A-2C18-447A-AAB4-33F1C1A3392D}"/>
              </a:ext>
            </a:extLst>
          </p:cNvPr>
          <p:cNvSpPr>
            <a:spLocks xmlns:a="http://schemas.openxmlformats.org/drawingml/2006/main" noGrp="1"/>
          </p:cNvSpPr>
          <p:nvPr>
            <p:ph type="title" idx="0"/>
          </p:nvPr>
        </p:nvSpPr>
        <p:spPr>
          <a:xfrm xmlns:a="http://schemas.openxmlformats.org/drawingml/2006/main">
            <a:off x="1228725" y="2590800"/>
            <a:ext cx="98298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A49371-18A8-4C50-B385-4ED0C4C3FD41}"/>
              </a:ext>
            </a:extLst>
          </p:cNvPr>
          <p:cNvSpPr>
            <a:spLocks xmlns:a="http://schemas.openxmlformats.org/drawingml/2006/main" noGrp="1"/>
          </p:cNvSpPr>
          <p:nvPr>
            <p:ph type="subTitle" idx="1"/>
          </p:nvPr>
        </p:nvSpPr>
        <p:spPr>
          <a:xfrm xmlns:a="http://schemas.openxmlformats.org/drawingml/2006/main">
            <a:off x="1843088" y="3771900"/>
            <a:ext cx="8601075"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E7BCF3-5B29-42D8-AD9D-F316880A8A46}"/>
              </a:ext>
            </a:extLst>
          </p:cNvPr>
          <p:cNvSpPr>
            <a:spLocks xmlns:a="http://schemas.openxmlformats.org/drawingml/2006/main" noGrp="1"/>
          </p:cNvSpPr>
          <p:nvPr>
            <p:ph type="title" idx="0"/>
          </p:nvPr>
        </p:nvSpPr>
        <p:spPr>
          <a:xfrm xmlns:a="http://schemas.openxmlformats.org/drawingml/2006/main">
            <a:off x="1228725" y="2857500"/>
            <a:ext cx="98298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28FCFE-C5C6-4554-B548-B49D80A47BC5}"/>
              </a:ext>
            </a:extLst>
          </p:cNvPr>
          <p:cNvSpPr>
            <a:spLocks xmlns:a="http://schemas.openxmlformats.org/drawingml/2006/main" noGrp="1"/>
          </p:cNvSpPr>
          <p:nvPr>
            <p:ph type="title" idx="0"/>
          </p:nvPr>
        </p:nvSpPr>
        <p:spPr>
          <a:xfrm xmlns:a="http://schemas.openxmlformats.org/drawingml/2006/main">
            <a:off x="691158" y="533400"/>
            <a:ext cx="10904934"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486A34-EBC3-41AB-BFAF-4613D377C3C8}"/>
              </a:ext>
            </a:extLst>
          </p:cNvPr>
          <p:cNvSpPr>
            <a:spLocks xmlns:a="http://schemas.openxmlformats.org/drawingml/2006/main" noGrp="1"/>
          </p:cNvSpPr>
          <p:nvPr>
            <p:ph type="body" idx="1"/>
          </p:nvPr>
        </p:nvSpPr>
        <p:spPr>
          <a:xfrm xmlns:a="http://schemas.openxmlformats.org/drawingml/2006/main">
            <a:off x="691158" y="1905000"/>
            <a:ext cx="1090493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0663CB-2BCA-4995-B42D-7177E0ABCF5D}"/>
              </a:ext>
            </a:extLst>
          </p:cNvPr>
          <p:cNvSpPr>
            <a:spLocks xmlns:a="http://schemas.openxmlformats.org/drawingml/2006/main" noGrp="1"/>
          </p:cNvSpPr>
          <p:nvPr>
            <p:ph type="title" idx="0"/>
          </p:nvPr>
        </p:nvSpPr>
        <p:spPr>
          <a:xfrm xmlns:a="http://schemas.openxmlformats.org/drawingml/2006/main">
            <a:off x="691158" y="533400"/>
            <a:ext cx="10904934"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BCB574-AC8B-4B11-ABA5-2FABBD77242D}"/>
              </a:ext>
            </a:extLst>
          </p:cNvPr>
          <p:cNvSpPr>
            <a:spLocks xmlns:a="http://schemas.openxmlformats.org/drawingml/2006/main" noGrp="1"/>
          </p:cNvSpPr>
          <p:nvPr>
            <p:ph type="body" idx="1"/>
          </p:nvPr>
        </p:nvSpPr>
        <p:spPr>
          <a:xfrm xmlns:a="http://schemas.openxmlformats.org/drawingml/2006/main">
            <a:off x="691158" y="1905000"/>
            <a:ext cx="5068491"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88B5C0-6C1A-4C62-9BF6-F8EFABEE7706}"/>
              </a:ext>
            </a:extLst>
          </p:cNvPr>
          <p:cNvSpPr>
            <a:spLocks xmlns:a="http://schemas.openxmlformats.org/drawingml/2006/main" noGrp="1"/>
          </p:cNvSpPr>
          <p:nvPr>
            <p:ph type="body" idx="2"/>
          </p:nvPr>
        </p:nvSpPr>
        <p:spPr>
          <a:xfrm xmlns:a="http://schemas.openxmlformats.org/drawingml/2006/main">
            <a:off x="6527602" y="1905000"/>
            <a:ext cx="5068491"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79E370-E04B-4C99-ACA9-4CDB46450A22}"/>
              </a:ext>
            </a:extLst>
          </p:cNvPr>
          <p:cNvSpPr>
            <a:spLocks xmlns:a="http://schemas.openxmlformats.org/drawingml/2006/main" noGrp="1"/>
          </p:cNvSpPr>
          <p:nvPr>
            <p:ph type="title" idx="0"/>
          </p:nvPr>
        </p:nvSpPr>
        <p:spPr>
          <a:xfrm xmlns:a="http://schemas.openxmlformats.org/drawingml/2006/main">
            <a:off x="691158" y="533400"/>
            <a:ext cx="10904934"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4605D9-509E-40B4-A77A-C6109BE165E0}"/>
              </a:ext>
            </a:extLst>
          </p:cNvPr>
          <p:cNvSpPr>
            <a:spLocks xmlns:a="http://schemas.openxmlformats.org/drawingml/2006/main" noGrp="1"/>
          </p:cNvSpPr>
          <p:nvPr>
            <p:ph type="body" idx="1"/>
          </p:nvPr>
        </p:nvSpPr>
        <p:spPr>
          <a:xfrm xmlns:a="http://schemas.openxmlformats.org/drawingml/2006/main">
            <a:off x="691158" y="1905000"/>
            <a:ext cx="5068491"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c46fcd506048d1" /><Relationship Type="http://schemas.openxmlformats.org/officeDocument/2006/relationships/slideLayout" Target="/ppt/slideLayouts/slideLayout1.xml" Id="R143547d265c84bf4" /><Relationship Type="http://schemas.openxmlformats.org/officeDocument/2006/relationships/slideLayout" Target="/ppt/slideLayouts/slideLayout2.xml" Id="R4923806f171d4f97" /><Relationship Type="http://schemas.openxmlformats.org/officeDocument/2006/relationships/slideLayout" Target="/ppt/slideLayouts/slideLayout3.xml" Id="Rc1a96a131ae5403d" /><Relationship Type="http://schemas.openxmlformats.org/officeDocument/2006/relationships/slideLayout" Target="/ppt/slideLayouts/slideLayout4.xml" Id="R8c99da1c5bcd4382" /><Relationship Type="http://schemas.openxmlformats.org/officeDocument/2006/relationships/slideLayout" Target="/ppt/slideLayouts/slideLayout5.xml" Id="R71bccd8065014e0b" /><Relationship Type="http://schemas.openxmlformats.org/officeDocument/2006/relationships/slideLayout" Target="/ppt/slideLayouts/slideLayout6.xml" Id="R57f48878ca064b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3547d265c84bf4"/>
    <p:sldLayoutId xmlns:r="http://schemas.openxmlformats.org/officeDocument/2006/relationships" id="2147483650" r:id="R4923806f171d4f97"/>
    <p:sldLayoutId xmlns:r="http://schemas.openxmlformats.org/officeDocument/2006/relationships" id="2147483651" r:id="Rc1a96a131ae5403d"/>
    <p:sldLayoutId xmlns:r="http://schemas.openxmlformats.org/officeDocument/2006/relationships" id="2147483652" r:id="R8c99da1c5bcd4382"/>
    <p:sldLayoutId xmlns:r="http://schemas.openxmlformats.org/officeDocument/2006/relationships" id="2147483653" r:id="R71bccd8065014e0b"/>
    <p:sldLayoutId xmlns:r="http://schemas.openxmlformats.org/officeDocument/2006/relationships" id="2147483654" r:id="R57f48878ca064b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b698dcb98b48ff" /><Relationship Type="http://schemas.openxmlformats.org/officeDocument/2006/relationships/notesSlide" Target="/ppt/notesSlides/notesSlide1.xml" Id="Re4652a7a157c41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b7724f24ce40bc" /><Relationship Type="http://schemas.openxmlformats.org/officeDocument/2006/relationships/notesSlide" Target="/ppt/notesSlides/notesSlide2.xml" Id="R4c2a026e68c349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21ace54de1e4fd0" /><Relationship Type="http://schemas.openxmlformats.org/officeDocument/2006/relationships/image" Target="/ppt/media/image.jpeg" Id="R26978ef4849344fd" /><Relationship Type="http://schemas.openxmlformats.org/officeDocument/2006/relationships/notesSlide" Target="/ppt/notesSlides/notesSlide3.xml" Id="R81471b4cc4c642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8388fac09df40d0" /><Relationship Type="http://schemas.openxmlformats.org/officeDocument/2006/relationships/notesSlide" Target="/ppt/notesSlides/notesSlide4.xml" Id="R723eb3b0128d49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339026b3284c05" /><Relationship Type="http://schemas.openxmlformats.org/officeDocument/2006/relationships/image" Target="/ppt/media/image2.jpeg" Id="Ra44f0e41a0604ee7" /><Relationship Type="http://schemas.openxmlformats.org/officeDocument/2006/relationships/notesSlide" Target="/ppt/notesSlides/notesSlide5.xml" Id="Rf00d95674d5041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4028e71e6a4200" /><Relationship Type="http://schemas.openxmlformats.org/officeDocument/2006/relationships/notesSlide" Target="/ppt/notesSlides/notesSlide6.xml" Id="R16c5ccef0d8740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447f95744d7487f" /><Relationship Type="http://schemas.openxmlformats.org/officeDocument/2006/relationships/image" Target="/ppt/media/image3.jpeg" Id="R7f3ac33156ac4870" /><Relationship Type="http://schemas.openxmlformats.org/officeDocument/2006/relationships/notesSlide" Target="/ppt/notesSlides/notesSlide7.xml" Id="Rbb89bf682a834f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338b85dada24441" /><Relationship Type="http://schemas.openxmlformats.org/officeDocument/2006/relationships/notesSlide" Target="/ppt/notesSlides/notesSlide8.xml" Id="Rc29ed22a0fcd43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ccbbd496ac24e06" /><Relationship Type="http://schemas.openxmlformats.org/officeDocument/2006/relationships/notesSlide" Target="/ppt/notesSlides/notesSlide9.xml" Id="R431ee4d3ab5e4cb1" /></Relationships>
</file>

<file path=ppt/slides/slide1.xml><?xml version="1.0" encoding="utf-8"?>
<p:sld xmlns:p="http://schemas.openxmlformats.org/presentationml/2006/main">
  <p:cSld>
    <p:bg>
      <p:bgPr>
        <a:solidFill xmlns:a="http://schemas.openxmlformats.org/drawingml/2006/main">
          <a:srgbClr val="49334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741B866-365E-47B4-9082-46A4AA99880C}"/>
              </a:ext>
            </a:extLst>
          </p:cNvPr>
          <p:cNvSpPr>
            <a:spLocks xmlns:a="http://schemas.openxmlformats.org/drawingml/2006/main" noGrp="1"/>
          </p:cNvSpPr>
          <p:nvPr/>
        </p:nvSpPr>
        <p:spPr>
          <a:xfrm xmlns:a="http://schemas.openxmlformats.org/drawingml/2006/main">
            <a:off x="666750" y="1524000"/>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900" b="0">
                <a:solidFill>
                  <a:srgbClr val="F7F5EF"/>
                </a:solidFill>
                <a:latin typeface="Georgia"/>
                <a:ea typeface="Georgia"/>
                <a:cs typeface="Georgia"/>
              </a:defRPr>
            </a:defPPr>
          </a:lstStyle>
          <a:p xmlns:a="http://schemas.openxmlformats.org/drawingml/2006/main">
            <a:pPr>
              <a:defRPr sz="9900" b="0">
                <a:solidFill>
                  <a:srgbClr val="F7F5EF"/>
                </a:solidFill>
                <a:latin typeface="Georgia"/>
                <a:ea typeface="Georgia"/>
                <a:cs typeface="Georgia"/>
              </a:defRPr>
            </a:pPr>
            <a:r>
              <a:rPr sz="9900" b="0">
                <a:solidFill>
                  <a:srgbClr val="F7F5EF"/>
                </a:solidFill>
                <a:latin typeface="Georgia"/>
                <a:ea typeface="Georgia"/>
                <a:cs typeface="Georgia"/>
              </a:rPr>
              <a:t>FinMate</a:t>
            </a:r>
          </a:p>
        </p:txBody>
      </p:sp>
      <p:sp>
        <p:nvSpPr>
          <p:cNvPr id="2" name="">
            <a:extLst xmlns:a="http://schemas.openxmlformats.org/drawingml/2006/main">
              <a:ext uri="{FF2B5EF4-FFF2-40B4-BE49-F238E27FC236}">
                <a16:creationId xmlns:a16="http://schemas.microsoft.com/office/drawing/2014/main" id="{44F40EB2-94D5-42C1-94BC-EA3AFD00DAF8}"/>
              </a:ext>
            </a:extLst>
          </p:cNvPr>
          <p:cNvSpPr>
            <a:spLocks xmlns:a="http://schemas.openxmlformats.org/drawingml/2006/main" noGrp="1"/>
          </p:cNvSpPr>
          <p:nvPr/>
        </p:nvSpPr>
        <p:spPr>
          <a:xfrm xmlns:a="http://schemas.openxmlformats.org/drawingml/2006/main">
            <a:off x="723900" y="3448050"/>
            <a:ext cx="1000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F7F5EF"/>
                </a:solidFill>
                <a:latin typeface="Arial"/>
                <a:ea typeface="Arial"/>
                <a:cs typeface="Arial"/>
              </a:defRPr>
            </a:defPPr>
          </a:lstStyle>
          <a:p xmlns:a="http://schemas.openxmlformats.org/drawingml/2006/main">
            <a:pPr>
              <a:defRPr sz="2700" b="0">
                <a:solidFill>
                  <a:srgbClr val="F7F5EF"/>
                </a:solidFill>
                <a:latin typeface="Arial"/>
                <a:ea typeface="Arial"/>
                <a:cs typeface="Arial"/>
              </a:defRPr>
            </a:pPr>
            <a:r>
              <a:rPr sz="2700" b="0">
                <a:solidFill>
                  <a:srgbClr val="F7F5EF"/>
                </a:solidFill>
                <a:latin typeface="Arial"/>
                <a:ea typeface="Arial"/>
                <a:cs typeface="Arial"/>
              </a:rPr>
              <a:t>A financial agent for students living abroad</a:t>
            </a:r>
          </a:p>
        </p:txBody>
      </p:sp>
      <p:sp>
        <p:nvSpPr>
          <p:cNvPr id="3" name="">
            <a:extLst xmlns:a="http://schemas.openxmlformats.org/drawingml/2006/main">
              <a:ext uri="{FF2B5EF4-FFF2-40B4-BE49-F238E27FC236}">
                <a16:creationId xmlns:a16="http://schemas.microsoft.com/office/drawing/2014/main" id="{0AA1C7F8-5F69-44EA-91AB-91CD2A8B1D9E}"/>
              </a:ext>
            </a:extLst>
          </p:cNvPr>
          <p:cNvSpPr>
            <a:spLocks xmlns:a="http://schemas.openxmlformats.org/drawingml/2006/main" noGrp="1"/>
          </p:cNvSpPr>
          <p:nvPr/>
        </p:nvSpPr>
        <p:spPr>
          <a:xfrm xmlns:a="http://schemas.openxmlformats.org/drawingml/2006/main">
            <a:off x="723900" y="5219700"/>
            <a:ext cx="1028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8EDAA"/>
                </a:solidFill>
                <a:latin typeface="Arial"/>
                <a:ea typeface="Arial"/>
                <a:cs typeface="Arial"/>
              </a:defRPr>
            </a:defPPr>
          </a:lstStyle>
          <a:p xmlns:a="http://schemas.openxmlformats.org/drawingml/2006/main">
            <a:pPr>
              <a:defRPr sz="1800" b="0">
                <a:solidFill>
                  <a:srgbClr val="E8EDAA"/>
                </a:solidFill>
                <a:latin typeface="Arial"/>
                <a:ea typeface="Arial"/>
                <a:cs typeface="Arial"/>
              </a:defRPr>
            </a:pPr>
            <a:r>
              <a:rPr sz="1800" b="0">
                <a:solidFill>
                  <a:srgbClr val="E8EDAA"/>
                </a:solidFill>
                <a:latin typeface="Arial"/>
                <a:ea typeface="Arial"/>
                <a:cs typeface="Arial"/>
              </a:rPr>
              <a:t>Shenzhen International FinTech Competition 2026</a:t>
            </a:r>
          </a:p>
          <a:p xmlns:a="http://schemas.openxmlformats.org/drawingml/2006/main">
            <a:pPr>
              <a:defRPr sz="1800" b="0">
                <a:solidFill>
                  <a:srgbClr val="E8EDAA"/>
                </a:solidFill>
                <a:latin typeface="Arial"/>
                <a:ea typeface="Arial"/>
                <a:cs typeface="Arial"/>
              </a:defRPr>
            </a:pPr>
            <a:r>
              <a:rPr sz="1800" b="0">
                <a:solidFill>
                  <a:srgbClr val="E8EDAA"/>
                </a:solidFill>
                <a:latin typeface="Arial"/>
                <a:ea typeface="Arial"/>
                <a:cs typeface="Arial"/>
              </a:rPr>
              <a:t>Topic C: Cross-border and Student Finance</a:t>
            </a:r>
          </a:p>
        </p:txBody>
      </p:sp>
    </p:spTree>
    <p:extLst>
      <p:ext uri="{BB962C8B-B14F-4D97-AF65-F5344CB8AC3E}">
        <p14:creationId xmlns:p14="http://schemas.microsoft.com/office/powerpoint/2010/main" val="1003257365"/>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C4A1E1-AF04-46F1-A45C-8F0C92DA0FEF}"/>
              </a:ext>
            </a:extLst>
          </p:cNvPr>
          <p:cNvSpPr>
            <a:spLocks xmlns:a="http://schemas.openxmlformats.org/drawingml/2006/main" noGrp="1"/>
          </p:cNvSpPr>
          <p:nvPr/>
        </p:nvSpPr>
        <p:spPr>
          <a:xfrm xmlns:a="http://schemas.openxmlformats.org/drawingml/2006/main">
            <a:off x="666750" y="523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493342"/>
                </a:solidFill>
                <a:latin typeface="Georgia"/>
                <a:ea typeface="Georgia"/>
                <a:cs typeface="Georgia"/>
              </a:defRPr>
            </a:defPPr>
          </a:lstStyle>
          <a:p xmlns:a="http://schemas.openxmlformats.org/drawingml/2006/main">
            <a:pPr>
              <a:defRPr sz="3600" b="0">
                <a:solidFill>
                  <a:srgbClr val="493342"/>
                </a:solidFill>
                <a:latin typeface="Georgia"/>
                <a:ea typeface="Georgia"/>
                <a:cs typeface="Georgia"/>
              </a:defRPr>
            </a:pPr>
            <a:r>
              <a:rPr sz="3600" b="0">
                <a:solidFill>
                  <a:srgbClr val="493342"/>
                </a:solidFill>
                <a:latin typeface="Georgia"/>
                <a:ea typeface="Georgia"/>
                <a:cs typeface="Georgia"/>
              </a:rPr>
              <a:t>A tuition deadline crosses several accounts</a:t>
            </a:r>
          </a:p>
        </p:txBody>
      </p:sp>
      <p:sp>
        <p:nvSpPr>
          <p:cNvPr id="2" name="">
            <a:extLst xmlns:a="http://schemas.openxmlformats.org/drawingml/2006/main">
              <a:ext uri="{FF2B5EF4-FFF2-40B4-BE49-F238E27FC236}">
                <a16:creationId xmlns:a16="http://schemas.microsoft.com/office/drawing/2014/main" id="{861F204A-C1EA-4CBC-97F6-DE5F013EFD19}"/>
              </a:ext>
            </a:extLst>
          </p:cNvPr>
          <p:cNvSpPr>
            <a:spLocks xmlns:a="http://schemas.openxmlformats.org/drawingml/2006/main" noGrp="1"/>
          </p:cNvSpPr>
          <p:nvPr/>
        </p:nvSpPr>
        <p:spPr>
          <a:xfrm xmlns:a="http://schemas.openxmlformats.org/drawingml/2006/main">
            <a:off x="666750" y="1828800"/>
            <a:ext cx="3619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493342"/>
                </a:solidFill>
                <a:latin typeface="Georgia"/>
                <a:ea typeface="Georgia"/>
                <a:cs typeface="Georgia"/>
              </a:defRPr>
            </a:defPPr>
          </a:lstStyle>
          <a:p xmlns:a="http://schemas.openxmlformats.org/drawingml/2006/main">
            <a:pPr>
              <a:defRPr sz="3900" b="0">
                <a:solidFill>
                  <a:srgbClr val="493342"/>
                </a:solidFill>
                <a:latin typeface="Georgia"/>
                <a:ea typeface="Georgia"/>
                <a:cs typeface="Georgia"/>
              </a:defRPr>
            </a:pPr>
            <a:r>
              <a:rPr sz="3900" b="0">
                <a:solidFill>
                  <a:srgbClr val="493342"/>
                </a:solidFill>
                <a:latin typeface="Georgia"/>
                <a:ea typeface="Georgia"/>
                <a:cs typeface="Georgia"/>
              </a:rPr>
              <a:t>EUR 2,840</a:t>
            </a:r>
          </a:p>
          <a:p xmlns:a="http://schemas.openxmlformats.org/drawingml/2006/main">
            <a:pPr>
              <a:defRPr sz="3900" b="0">
                <a:solidFill>
                  <a:srgbClr val="493342"/>
                </a:solidFill>
                <a:latin typeface="Georgia"/>
                <a:ea typeface="Georgia"/>
                <a:cs typeface="Georgia"/>
              </a:defRPr>
            </a:pPr>
            <a:r>
              <a:rPr sz="3900" b="0">
                <a:solidFill>
                  <a:srgbClr val="493342"/>
                </a:solidFill>
                <a:latin typeface="Georgia"/>
                <a:ea typeface="Georgia"/>
                <a:cs typeface="Georgia"/>
              </a:rPr>
              <a:t>GBP 1,200</a:t>
            </a:r>
          </a:p>
          <a:p xmlns:a="http://schemas.openxmlformats.org/drawingml/2006/main">
            <a:pPr>
              <a:defRPr sz="3900" b="0">
                <a:solidFill>
                  <a:srgbClr val="493342"/>
                </a:solidFill>
                <a:latin typeface="Georgia"/>
                <a:ea typeface="Georgia"/>
                <a:cs typeface="Georgia"/>
              </a:defRPr>
            </a:pPr>
            <a:r>
              <a:rPr sz="3900" b="0">
                <a:solidFill>
                  <a:srgbClr val="493342"/>
                </a:solidFill>
                <a:latin typeface="Georgia"/>
                <a:ea typeface="Georgia"/>
                <a:cs typeface="Georgia"/>
              </a:rPr>
              <a:t>CNY 17,670</a:t>
            </a:r>
          </a:p>
        </p:txBody>
      </p:sp>
      <p:sp>
        <p:nvSpPr>
          <p:cNvPr id="3" name="">
            <a:extLst xmlns:a="http://schemas.openxmlformats.org/drawingml/2006/main">
              <a:ext uri="{FF2B5EF4-FFF2-40B4-BE49-F238E27FC236}">
                <a16:creationId xmlns:a16="http://schemas.microsoft.com/office/drawing/2014/main" id="{CD98E600-726B-4D51-BF8E-E388E76945F2}"/>
              </a:ext>
            </a:extLst>
          </p:cNvPr>
          <p:cNvSpPr>
            <a:spLocks xmlns:a="http://schemas.openxmlformats.org/drawingml/2006/main" noGrp="1"/>
          </p:cNvSpPr>
          <p:nvPr/>
        </p:nvSpPr>
        <p:spPr>
          <a:xfrm xmlns:a="http://schemas.openxmlformats.org/drawingml/2006/main">
            <a:off x="4953000" y="1952625"/>
            <a:ext cx="6381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493342"/>
                </a:solidFill>
                <a:latin typeface="Arial"/>
                <a:ea typeface="Arial"/>
                <a:cs typeface="Arial"/>
              </a:defRPr>
            </a:defPPr>
          </a:lstStyle>
          <a:p xmlns:a="http://schemas.openxmlformats.org/drawingml/2006/main">
            <a:pPr>
              <a:defRPr sz="2400" b="0">
                <a:solidFill>
                  <a:srgbClr val="493342"/>
                </a:solidFill>
                <a:latin typeface="Arial"/>
                <a:ea typeface="Arial"/>
                <a:cs typeface="Arial"/>
              </a:defRPr>
            </a:pPr>
            <a:r>
              <a:rPr sz="2400" b="0">
                <a:solidFill>
                  <a:srgbClr val="493342"/>
                </a:solidFill>
                <a:latin typeface="Arial"/>
                <a:ea typeface="Arial"/>
                <a:cs typeface="Arial"/>
              </a:rPr>
              <a:t>Tuition: EUR 2,300</a:t>
            </a:r>
          </a:p>
          <a:p xmlns:a="http://schemas.openxmlformats.org/drawingml/2006/main">
            <a:pPr>
              <a:defRPr sz="2400" b="0">
                <a:solidFill>
                  <a:srgbClr val="493342"/>
                </a:solidFill>
                <a:latin typeface="Arial"/>
                <a:ea typeface="Arial"/>
                <a:cs typeface="Arial"/>
              </a:defRPr>
            </a:pPr>
            <a:r>
              <a:rPr sz="2400" b="0">
                <a:solidFill>
                  <a:srgbClr val="493342"/>
                </a:solidFill>
                <a:latin typeface="Arial"/>
                <a:ea typeface="Arial"/>
                <a:cs typeface="Arial"/>
              </a:rPr>
              <a:t>Protected EUR reserve: 2,030</a:t>
            </a:r>
          </a:p>
          <a:p xmlns:a="http://schemas.openxmlformats.org/drawingml/2006/main">
            <a:pPr>
              <a:defRPr sz="2400" b="0">
                <a:solidFill>
                  <a:srgbClr val="493342"/>
                </a:solidFill>
                <a:latin typeface="Arial"/>
                <a:ea typeface="Arial"/>
                <a:cs typeface="Arial"/>
              </a:defRPr>
            </a:pPr>
            <a:r>
              <a:rPr sz="2400" b="0">
                <a:solidFill>
                  <a:srgbClr val="493342"/>
                </a:solidFill>
                <a:latin typeface="Arial"/>
                <a:ea typeface="Arial"/>
                <a:cs typeface="Arial"/>
              </a:rPr>
              <a:t>Expected income: unavailable</a:t>
            </a:r>
          </a:p>
        </p:txBody>
      </p:sp>
      <p:sp>
        <p:nvSpPr>
          <p:cNvPr id="4" name="">
            <a:extLst xmlns:a="http://schemas.openxmlformats.org/drawingml/2006/main">
              <a:ext uri="{FF2B5EF4-FFF2-40B4-BE49-F238E27FC236}">
                <a16:creationId xmlns:a16="http://schemas.microsoft.com/office/drawing/2014/main" id="{6C6F76C0-DACE-4EED-94EE-C05E1D312231}"/>
              </a:ext>
            </a:extLst>
          </p:cNvPr>
          <p:cNvSpPr>
            <a:spLocks xmlns:a="http://schemas.openxmlformats.org/drawingml/2006/main" noGrp="1"/>
          </p:cNvSpPr>
          <p:nvPr/>
        </p:nvSpPr>
        <p:spPr>
          <a:xfrm xmlns:a="http://schemas.openxmlformats.org/drawingml/2006/main">
            <a:off x="4953000" y="4095750"/>
            <a:ext cx="638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93342"/>
                </a:solidFill>
                <a:latin typeface="Arial"/>
                <a:ea typeface="Arial"/>
                <a:cs typeface="Arial"/>
              </a:defRPr>
            </a:defPPr>
          </a:lstStyle>
          <a:p xmlns:a="http://schemas.openxmlformats.org/drawingml/2006/main">
            <a:pPr>
              <a:defRPr sz="2175" b="0">
                <a:solidFill>
                  <a:srgbClr val="493342"/>
                </a:solidFill>
                <a:latin typeface="Arial"/>
                <a:ea typeface="Arial"/>
                <a:cs typeface="Arial"/>
              </a:defRPr>
            </a:pPr>
            <a:r>
              <a:rPr sz="2175" b="0">
                <a:solidFill>
                  <a:srgbClr val="493342"/>
                </a:solidFill>
                <a:latin typeface="Arial"/>
                <a:ea typeface="Arial"/>
                <a:cs typeface="Arial"/>
              </a:rPr>
              <a:t>CNY alone cannot cover tuition after fees.</a:t>
            </a:r>
          </a:p>
          <a:p xmlns:a="http://schemas.openxmlformats.org/drawingml/2006/main">
            <a:pPr>
              <a:defRPr sz="2175" b="0">
                <a:solidFill>
                  <a:srgbClr val="493342"/>
                </a:solidFill>
                <a:latin typeface="Arial"/>
                <a:ea typeface="Arial"/>
                <a:cs typeface="Arial"/>
              </a:defRPr>
            </a:pPr>
            <a:r>
              <a:rPr sz="2175" b="0">
                <a:solidFill>
                  <a:srgbClr val="493342"/>
                </a:solidFill>
                <a:latin typeface="Arial"/>
                <a:ea typeface="Arial"/>
                <a:cs typeface="Arial"/>
              </a:rPr>
              <a:t>GBP can fill the gap only if the student permits it.</a:t>
            </a:r>
          </a:p>
        </p:txBody>
      </p:sp>
      <p:sp>
        <p:nvSpPr>
          <p:cNvPr id="5" name="">
            <a:extLst xmlns:a="http://schemas.openxmlformats.org/drawingml/2006/main">
              <a:ext uri="{FF2B5EF4-FFF2-40B4-BE49-F238E27FC236}">
                <a16:creationId xmlns:a16="http://schemas.microsoft.com/office/drawing/2014/main" id="{A3989372-66D2-4748-BE84-F1EF1D9E7DED}"/>
              </a:ext>
            </a:extLst>
          </p:cNvPr>
          <p:cNvSpPr>
            <a:spLocks xmlns:a="http://schemas.openxmlformats.org/drawingml/2006/main" noGrp="1"/>
          </p:cNvSpPr>
          <p:nvPr/>
        </p:nvSpPr>
        <p:spPr>
          <a:xfrm xmlns:a="http://schemas.openxmlformats.org/drawingml/2006/main">
            <a:off x="666750" y="6000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86B70"/>
                </a:solidFill>
                <a:latin typeface="Arial"/>
                <a:ea typeface="Arial"/>
                <a:cs typeface="Arial"/>
              </a:defRPr>
            </a:defPPr>
          </a:lstStyle>
          <a:p xmlns:a="http://schemas.openxmlformats.org/drawingml/2006/main">
            <a:pPr>
              <a:defRPr sz="1350" b="0">
                <a:solidFill>
                  <a:srgbClr val="786B70"/>
                </a:solidFill>
                <a:latin typeface="Arial"/>
                <a:ea typeface="Arial"/>
                <a:cs typeface="Arial"/>
              </a:defRPr>
            </a:pPr>
            <a:r>
              <a:rPr sz="1350" b="0">
                <a:solidFill>
                  <a:srgbClr val="786B70"/>
                </a:solidFill>
                <a:latin typeface="Arial"/>
                <a:ea typeface="Arial"/>
                <a:cs typeface="Arial"/>
              </a:rPr>
              <a:t>Synthetic scenario. Entered balances are planning snapshots, not bank-verified funds.</a:t>
            </a:r>
          </a:p>
        </p:txBody>
      </p:sp>
    </p:spTree>
    <p:extLst>
      <p:ext uri="{BB962C8B-B14F-4D97-AF65-F5344CB8AC3E}">
        <p14:creationId xmlns:p14="http://schemas.microsoft.com/office/powerpoint/2010/main" val="1634384704"/>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392ABF-64A2-471F-B585-4AC8B4A167CF}"/>
              </a:ext>
            </a:extLst>
          </p:cNvPr>
          <p:cNvSpPr>
            <a:spLocks xmlns:a="http://schemas.openxmlformats.org/drawingml/2006/main" noGrp="1"/>
          </p:cNvSpPr>
          <p:nvPr/>
        </p:nvSpPr>
        <p:spPr>
          <a:xfrm xmlns:a="http://schemas.openxmlformats.org/drawingml/2006/main">
            <a:off x="666750" y="523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493342"/>
                </a:solidFill>
                <a:latin typeface="Georgia"/>
                <a:ea typeface="Georgia"/>
                <a:cs typeface="Georgia"/>
              </a:defRPr>
            </a:defPPr>
          </a:lstStyle>
          <a:p xmlns:a="http://schemas.openxmlformats.org/drawingml/2006/main">
            <a:pPr>
              <a:defRPr sz="3600" b="0">
                <a:solidFill>
                  <a:srgbClr val="493342"/>
                </a:solidFill>
                <a:latin typeface="Georgia"/>
                <a:ea typeface="Georgia"/>
                <a:cs typeface="Georgia"/>
              </a:defRPr>
            </a:pPr>
            <a:r>
              <a:rPr sz="3600" b="0">
                <a:solidFill>
                  <a:srgbClr val="493342"/>
                </a:solidFill>
                <a:latin typeface="Georgia"/>
                <a:ea typeface="Georgia"/>
                <a:cs typeface="Georgia"/>
              </a:rPr>
              <a:t>A complete tuition workflow</a:t>
            </a:r>
          </a:p>
        </p:txBody>
      </p:sp>
      <p:pic>
        <p:nvPicPr>
          <p:cNvPr id="2" name="">
            <a:extLst xmlns:a="http://schemas.openxmlformats.org/drawingml/2006/main">
              <a:ext uri="{FF2B5EF4-FFF2-40B4-BE49-F238E27FC236}">
                <a16:creationId xmlns:a16="http://schemas.microsoft.com/office/drawing/2014/main" id="{60FD46B4-5C35-442D-8841-6D71CE338223}"/>
              </a:ext>
            </a:extLst>
          </p:cNvPr>
          <p:cNvPicPr>
            <a:picLocks xmlns:a="http://schemas.openxmlformats.org/drawingml/2006/main" noChangeAspect="1"/>
          </p:cNvPicPr>
          <p:nvPr/>
        </p:nvPicPr>
        <p:blipFill>
          <a:blip xmlns:r="http://schemas.openxmlformats.org/officeDocument/2006/relationships" xmlns:a="http://schemas.openxmlformats.org/drawingml/2006/main" r:embed="R26978ef4849344fd"/>
          <a:stretch xmlns:a="http://schemas.openxmlformats.org/drawingml/2006/main"/>
        </p:blipFill>
        <p:spPr>
          <a:xfrm xmlns:a="http://schemas.openxmlformats.org/drawingml/2006/main">
            <a:off x="4095750" y="1685489"/>
            <a:ext cx="7429500" cy="410614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82418B5-0683-442A-B690-873DB8195B35}"/>
              </a:ext>
            </a:extLst>
          </p:cNvPr>
          <p:cNvSpPr>
            <a:spLocks xmlns:a="http://schemas.openxmlformats.org/drawingml/2006/main" noGrp="1"/>
          </p:cNvSpPr>
          <p:nvPr/>
        </p:nvSpPr>
        <p:spPr>
          <a:xfrm xmlns:a="http://schemas.openxmlformats.org/drawingml/2006/main">
            <a:off x="666750" y="1952625"/>
            <a:ext cx="3238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93342"/>
                </a:solidFill>
                <a:latin typeface="Arial"/>
                <a:ea typeface="Arial"/>
                <a:cs typeface="Arial"/>
              </a:defRPr>
            </a:defPPr>
          </a:lstStyle>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Check the invoice</a:t>
            </a:r>
          </a:p>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Choose allowed funding</a:t>
            </a:r>
          </a:p>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Protect living costs</a:t>
            </a:r>
          </a:p>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Explain changed plans</a:t>
            </a:r>
          </a:p>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Review an exact payment</a:t>
            </a:r>
          </a:p>
        </p:txBody>
      </p:sp>
      <p:sp>
        <p:nvSpPr>
          <p:cNvPr id="4" name="">
            <a:extLst xmlns:a="http://schemas.openxmlformats.org/drawingml/2006/main">
              <a:ext uri="{FF2B5EF4-FFF2-40B4-BE49-F238E27FC236}">
                <a16:creationId xmlns:a16="http://schemas.microsoft.com/office/drawing/2014/main" id="{92D938D2-ABB1-4292-B82C-0673AF314598}"/>
              </a:ext>
            </a:extLst>
          </p:cNvPr>
          <p:cNvSpPr>
            <a:spLocks xmlns:a="http://schemas.openxmlformats.org/drawingml/2006/main" noGrp="1"/>
          </p:cNvSpPr>
          <p:nvPr/>
        </p:nvSpPr>
        <p:spPr>
          <a:xfrm xmlns:a="http://schemas.openxmlformats.org/drawingml/2006/main">
            <a:off x="666750" y="6000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86B70"/>
                </a:solidFill>
                <a:latin typeface="Arial"/>
                <a:ea typeface="Arial"/>
                <a:cs typeface="Arial"/>
              </a:defRPr>
            </a:defPPr>
          </a:lstStyle>
          <a:p xmlns:a="http://schemas.openxmlformats.org/drawingml/2006/main">
            <a:pPr>
              <a:defRPr sz="1350" b="0">
                <a:solidFill>
                  <a:srgbClr val="786B70"/>
                </a:solidFill>
                <a:latin typeface="Arial"/>
                <a:ea typeface="Arial"/>
                <a:cs typeface="Arial"/>
              </a:defRPr>
            </a:pPr>
            <a:r>
              <a:rPr sz="1350" b="0">
                <a:solidFill>
                  <a:srgbClr val="786B70"/>
                </a:solidFill>
                <a:latin typeface="Arial"/>
                <a:ea typeface="Arial"/>
                <a:cs typeface="Arial"/>
              </a:rPr>
              <a:t>Future scholarship income never funds a payment until it has actually arrived.</a:t>
            </a:r>
          </a:p>
        </p:txBody>
      </p:sp>
    </p:spTree>
    <p:extLst>
      <p:ext uri="{BB962C8B-B14F-4D97-AF65-F5344CB8AC3E}">
        <p14:creationId xmlns:p14="http://schemas.microsoft.com/office/powerpoint/2010/main" val="153136550"/>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CB60EB2-C57C-48CB-A7FE-4D79EF386B5F}"/>
              </a:ext>
            </a:extLst>
          </p:cNvPr>
          <p:cNvSpPr>
            <a:spLocks xmlns:a="http://schemas.openxmlformats.org/drawingml/2006/main" noGrp="1"/>
          </p:cNvSpPr>
          <p:nvPr/>
        </p:nvSpPr>
        <p:spPr>
          <a:xfrm xmlns:a="http://schemas.openxmlformats.org/drawingml/2006/main">
            <a:off x="666750" y="523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493342"/>
                </a:solidFill>
                <a:latin typeface="Georgia"/>
                <a:ea typeface="Georgia"/>
                <a:cs typeface="Georgia"/>
              </a:defRPr>
            </a:defPPr>
          </a:lstStyle>
          <a:p xmlns:a="http://schemas.openxmlformats.org/drawingml/2006/main">
            <a:pPr>
              <a:defRPr sz="3600" b="0">
                <a:solidFill>
                  <a:srgbClr val="493342"/>
                </a:solidFill>
                <a:latin typeface="Georgia"/>
                <a:ea typeface="Georgia"/>
                <a:cs typeface="Georgia"/>
              </a:defRPr>
            </a:pPr>
            <a:r>
              <a:rPr sz="3600" b="0">
                <a:solidFill>
                  <a:srgbClr val="493342"/>
                </a:solidFill>
                <a:latin typeface="Georgia"/>
                <a:ea typeface="Georgia"/>
                <a:cs typeface="Georgia"/>
              </a:rPr>
              <a:t>A lower fee can miss the deadline</a:t>
            </a:r>
          </a:p>
        </p:txBody>
      </p:sp>
      <p:graphicFrame>
        <p:nvGraphicFramePr>
          <p:cNvPr id="2" name="">
            <a:extLst xmlns:a="http://schemas.openxmlformats.org/drawingml/2006/main">
              <a:ext uri="{FF2B5EF4-FFF2-40B4-BE49-F238E27FC236}">
                <a16:creationId xmlns:a16="http://schemas.microsoft.com/office/drawing/2014/main" id="{D5CDC294-B379-4D13-916F-FAFD8ABCB5EC}"/>
              </a:ext>
            </a:extLst>
          </p:cNvPr>
          <p:cNvGraphicFramePr/>
          <p:nvPr/>
        </p:nvGraphicFramePr>
        <p:xfrm>
          <a:off xmlns:a="http://schemas.openxmlformats.org/drawingml/2006/main" x="666750" y="2143125"/>
          <a:ext xmlns:a="http://schemas.openxmlformats.org/drawingml/2006/main" cx="10858500" cy="2381250"/>
        </p:xfrm>
        <a:graphic xmlns:a="http://schemas.openxmlformats.org/drawingml/2006/main">
          <a:graphicData uri="http://schemas.openxmlformats.org/drawingml/2006/table">
            <a:tbl>
              <a:tblPr/>
              <a:tblGrid>
                <a:gridCol w="3429000"/>
                <a:gridCol w="2095500"/>
                <a:gridCol w="2857500"/>
                <a:gridCol w="2476500"/>
              </a:tblGrid>
              <a:tr h="793750">
                <a:tc>
                  <a:txBody>
                    <a:bodyPr/>
                    <a:lstStyle/>
                    <a:p>
                      <a:r>
                        <a:rPr sz="1950" b="1">
                          <a:solidFill>
                            <a:srgbClr val="F7F5EF"/>
                          </a:solidFill>
                          <a:latin typeface="Arial"/>
                          <a:ea typeface="Arial"/>
                          <a:cs typeface="Arial"/>
                        </a:rPr>
                        <a:t>Method</a:t>
                      </a:r>
                    </a:p>
                  </a:txBody>
                  <a:tcPr marL="91440" marR="91440" marT="45720" marB="45720">
                    <a:solidFill>
                      <a:srgbClr val="493342"/>
                    </a:solidFill>
                  </a:tcPr>
                </a:tc>
                <a:tc>
                  <a:txBody>
                    <a:bodyPr/>
                    <a:lstStyle/>
                    <a:p>
                      <a:r>
                        <a:rPr sz="1950" b="1">
                          <a:solidFill>
                            <a:srgbClr val="F7F5EF"/>
                          </a:solidFill>
                          <a:latin typeface="Arial"/>
                          <a:ea typeface="Arial"/>
                          <a:cs typeface="Arial"/>
                        </a:rPr>
                        <a:t>Fee, EUR</a:t>
                      </a:r>
                    </a:p>
                  </a:txBody>
                  <a:tcPr marL="91440" marR="91440" marT="45720" marB="45720">
                    <a:solidFill>
                      <a:srgbClr val="493342"/>
                    </a:solidFill>
                  </a:tcPr>
                </a:tc>
                <a:tc>
                  <a:txBody>
                    <a:bodyPr/>
                    <a:lstStyle/>
                    <a:p>
                      <a:r>
                        <a:rPr sz="1950" b="1">
                          <a:solidFill>
                            <a:srgbClr val="F7F5EF"/>
                          </a:solidFill>
                          <a:latin typeface="Arial"/>
                          <a:ea typeface="Arial"/>
                          <a:cs typeface="Arial"/>
                        </a:rPr>
                        <a:t>Arrival</a:t>
                      </a:r>
                    </a:p>
                  </a:txBody>
                  <a:tcPr marL="91440" marR="91440" marT="45720" marB="45720">
                    <a:solidFill>
                      <a:srgbClr val="493342"/>
                    </a:solidFill>
                  </a:tcPr>
                </a:tc>
                <a:tc>
                  <a:txBody>
                    <a:bodyPr/>
                    <a:lstStyle/>
                    <a:p>
                      <a:r>
                        <a:rPr sz="1950" b="1">
                          <a:solidFill>
                            <a:srgbClr val="F7F5EF"/>
                          </a:solidFill>
                          <a:latin typeface="Arial"/>
                          <a:ea typeface="Arial"/>
                          <a:cs typeface="Arial"/>
                        </a:rPr>
                        <a:t>Meets deadline</a:t>
                      </a:r>
                    </a:p>
                  </a:txBody>
                  <a:tcPr marL="91440" marR="91440" marT="45720" marB="45720">
                    <a:solidFill>
                      <a:srgbClr val="493342"/>
                    </a:solidFill>
                  </a:tcPr>
                </a:tc>
              </a:tr>
              <a:tr h="793750">
                <a:tc>
                  <a:txBody>
                    <a:bodyPr/>
                    <a:lstStyle/>
                    <a:p>
                      <a:r>
                        <a:rPr sz="1950" b="0">
                          <a:solidFill>
                            <a:srgbClr val="493342"/>
                          </a:solidFill>
                          <a:latin typeface="Arial"/>
                          <a:ea typeface="Arial"/>
                          <a:cs typeface="Arial"/>
                        </a:rPr>
                        <a:t>Lowest fee only</a:t>
                      </a:r>
                    </a:p>
                  </a:txBody>
                  <a:tcPr marL="91440" marR="91440" marT="45720" marB="45720">
                    <a:solidFill>
                      <a:srgbClr val="F7F5EF"/>
                    </a:solidFill>
                  </a:tcPr>
                </a:tc>
                <a:tc>
                  <a:txBody>
                    <a:bodyPr/>
                    <a:lstStyle/>
                    <a:p>
                      <a:r>
                        <a:rPr sz="1950" b="0">
                          <a:solidFill>
                            <a:srgbClr val="493342"/>
                          </a:solidFill>
                          <a:latin typeface="Arial"/>
                          <a:ea typeface="Arial"/>
                          <a:cs typeface="Arial"/>
                        </a:rPr>
                        <a:t>6.92</a:t>
                      </a:r>
                    </a:p>
                  </a:txBody>
                  <a:tcPr marL="91440" marR="91440" marT="45720" marB="45720">
                    <a:solidFill>
                      <a:srgbClr val="F7F5EF"/>
                    </a:solidFill>
                  </a:tcPr>
                </a:tc>
                <a:tc>
                  <a:txBody>
                    <a:bodyPr/>
                    <a:lstStyle/>
                    <a:p>
                      <a:r>
                        <a:rPr sz="1950" b="0">
                          <a:solidFill>
                            <a:srgbClr val="493342"/>
                          </a:solidFill>
                          <a:latin typeface="Arial"/>
                          <a:ea typeface="Arial"/>
                          <a:cs typeface="Arial"/>
                        </a:rPr>
                        <a:t>2026-10-16</a:t>
                      </a:r>
                    </a:p>
                  </a:txBody>
                  <a:tcPr marL="91440" marR="91440" marT="45720" marB="45720">
                    <a:solidFill>
                      <a:srgbClr val="F7F5EF"/>
                    </a:solidFill>
                  </a:tcPr>
                </a:tc>
                <a:tc>
                  <a:txBody>
                    <a:bodyPr/>
                    <a:lstStyle/>
                    <a:p>
                      <a:r>
                        <a:rPr sz="1950" b="0">
                          <a:solidFill>
                            <a:srgbClr val="493342"/>
                          </a:solidFill>
                          <a:latin typeface="Arial"/>
                          <a:ea typeface="Arial"/>
                          <a:cs typeface="Arial"/>
                        </a:rPr>
                        <a:t>No</a:t>
                      </a:r>
                    </a:p>
                  </a:txBody>
                  <a:tcPr marL="91440" marR="91440" marT="45720" marB="45720">
                    <a:solidFill>
                      <a:srgbClr val="F7F5EF"/>
                    </a:solidFill>
                  </a:tcPr>
                </a:tc>
              </a:tr>
              <a:tr h="793750">
                <a:tc>
                  <a:txBody>
                    <a:bodyPr/>
                    <a:lstStyle/>
                    <a:p>
                      <a:r>
                        <a:rPr sz="1950" b="0">
                          <a:solidFill>
                            <a:srgbClr val="493342"/>
                          </a:solidFill>
                          <a:latin typeface="Arial"/>
                          <a:ea typeface="Arial"/>
                          <a:cs typeface="Arial"/>
                        </a:rPr>
                        <a:t>FinMate constraints</a:t>
                      </a:r>
                    </a:p>
                  </a:txBody>
                  <a:tcPr marL="91440" marR="91440" marT="45720" marB="45720">
                    <a:solidFill>
                      <a:srgbClr val="E8EDAA"/>
                    </a:solidFill>
                  </a:tcPr>
                </a:tc>
                <a:tc>
                  <a:txBody>
                    <a:bodyPr/>
                    <a:lstStyle/>
                    <a:p>
                      <a:r>
                        <a:rPr sz="1950" b="0">
                          <a:solidFill>
                            <a:srgbClr val="493342"/>
                          </a:solidFill>
                          <a:latin typeface="Arial"/>
                          <a:ea typeface="Arial"/>
                          <a:cs typeface="Arial"/>
                        </a:rPr>
                        <a:t>13.88</a:t>
                      </a:r>
                    </a:p>
                  </a:txBody>
                  <a:tcPr marL="91440" marR="91440" marT="45720" marB="45720">
                    <a:solidFill>
                      <a:srgbClr val="E8EDAA"/>
                    </a:solidFill>
                  </a:tcPr>
                </a:tc>
                <a:tc>
                  <a:txBody>
                    <a:bodyPr/>
                    <a:lstStyle/>
                    <a:p>
                      <a:r>
                        <a:rPr sz="1950" b="0">
                          <a:solidFill>
                            <a:srgbClr val="493342"/>
                          </a:solidFill>
                          <a:latin typeface="Arial"/>
                          <a:ea typeface="Arial"/>
                          <a:cs typeface="Arial"/>
                        </a:rPr>
                        <a:t>2026-10-12</a:t>
                      </a:r>
                    </a:p>
                  </a:txBody>
                  <a:tcPr marL="91440" marR="91440" marT="45720" marB="45720">
                    <a:solidFill>
                      <a:srgbClr val="E8EDAA"/>
                    </a:solidFill>
                  </a:tcPr>
                </a:tc>
                <a:tc>
                  <a:txBody>
                    <a:bodyPr/>
                    <a:lstStyle/>
                    <a:p>
                      <a:r>
                        <a:rPr sz="1950" b="0">
                          <a:solidFill>
                            <a:srgbClr val="493342"/>
                          </a:solidFill>
                          <a:latin typeface="Arial"/>
                          <a:ea typeface="Arial"/>
                          <a:cs typeface="Arial"/>
                        </a:rPr>
                        <a:t>Yes</a:t>
                      </a:r>
                    </a:p>
                  </a:txBody>
                  <a:tcPr marL="91440" marR="91440" marT="45720" marB="45720">
                    <a:solidFill>
                      <a:srgbClr val="E8EDAA"/>
                    </a:solidFill>
                  </a:tcPr>
                </a:tc>
              </a:tr>
            </a:tbl>
          </a:graphicData>
        </a:graphic>
      </p:graphicFrame>
      <p:sp>
        <p:nvSpPr>
          <p:cNvPr id="3" name="">
            <a:extLst xmlns:a="http://schemas.openxmlformats.org/drawingml/2006/main">
              <a:ext uri="{FF2B5EF4-FFF2-40B4-BE49-F238E27FC236}">
                <a16:creationId xmlns:a16="http://schemas.microsoft.com/office/drawing/2014/main" id="{2980D990-0D7D-41A1-9F8B-2A849DA72332}"/>
              </a:ext>
            </a:extLst>
          </p:cNvPr>
          <p:cNvSpPr>
            <a:spLocks xmlns:a="http://schemas.openxmlformats.org/drawingml/2006/main" noGrp="1"/>
          </p:cNvSpPr>
          <p:nvPr/>
        </p:nvSpPr>
        <p:spPr>
          <a:xfrm xmlns:a="http://schemas.openxmlformats.org/drawingml/2006/main">
            <a:off x="666750" y="49053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493342"/>
                </a:solidFill>
                <a:latin typeface="Arial"/>
                <a:ea typeface="Arial"/>
                <a:cs typeface="Arial"/>
              </a:defRPr>
            </a:defPPr>
          </a:lstStyle>
          <a:p xmlns:a="http://schemas.openxmlformats.org/drawingml/2006/main">
            <a:pPr>
              <a:defRPr sz="2250" b="0">
                <a:solidFill>
                  <a:srgbClr val="493342"/>
                </a:solidFill>
                <a:latin typeface="Arial"/>
                <a:ea typeface="Arial"/>
                <a:cs typeface="Arial"/>
              </a:defRPr>
            </a:pPr>
            <a:r>
              <a:rPr sz="2250" b="0">
                <a:solidFill>
                  <a:srgbClr val="493342"/>
                </a:solidFill>
                <a:latin typeface="Arial"/>
                <a:ea typeface="Arial"/>
                <a:cs typeface="Arial"/>
              </a:rPr>
              <a:t>Arrival before the deadline is a requirement.</a:t>
            </a:r>
          </a:p>
          <a:p xmlns:a="http://schemas.openxmlformats.org/drawingml/2006/main">
            <a:pPr>
              <a:defRPr sz="2250" b="0">
                <a:solidFill>
                  <a:srgbClr val="493342"/>
                </a:solidFill>
                <a:latin typeface="Arial"/>
                <a:ea typeface="Arial"/>
                <a:cs typeface="Arial"/>
              </a:defRPr>
            </a:pPr>
            <a:r>
              <a:rPr sz="2250" b="0">
                <a:solidFill>
                  <a:srgbClr val="493342"/>
                </a:solidFill>
                <a:latin typeface="Arial"/>
                <a:ea typeface="Arial"/>
                <a:cs typeface="Arial"/>
              </a:rPr>
              <a:t>Cost decides between eligible options.</a:t>
            </a:r>
          </a:p>
        </p:txBody>
      </p:sp>
      <p:sp>
        <p:nvSpPr>
          <p:cNvPr id="4" name="">
            <a:extLst xmlns:a="http://schemas.openxmlformats.org/drawingml/2006/main">
              <a:ext uri="{FF2B5EF4-FFF2-40B4-BE49-F238E27FC236}">
                <a16:creationId xmlns:a16="http://schemas.microsoft.com/office/drawing/2014/main" id="{0708B7FB-3F1D-43C2-9729-F173352806E9}"/>
              </a:ext>
            </a:extLst>
          </p:cNvPr>
          <p:cNvSpPr>
            <a:spLocks xmlns:a="http://schemas.openxmlformats.org/drawingml/2006/main" noGrp="1"/>
          </p:cNvSpPr>
          <p:nvPr/>
        </p:nvSpPr>
        <p:spPr>
          <a:xfrm xmlns:a="http://schemas.openxmlformats.org/drawingml/2006/main">
            <a:off x="666750" y="6000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86B70"/>
                </a:solidFill>
                <a:latin typeface="Arial"/>
                <a:ea typeface="Arial"/>
                <a:cs typeface="Arial"/>
              </a:defRPr>
            </a:defPPr>
          </a:lstStyle>
          <a:p xmlns:a="http://schemas.openxmlformats.org/drawingml/2006/main">
            <a:pPr>
              <a:defRPr sz="1350" b="0">
                <a:solidFill>
                  <a:srgbClr val="786B70"/>
                </a:solidFill>
                <a:latin typeface="Arial"/>
                <a:ea typeface="Arial"/>
                <a:cs typeface="Arial"/>
              </a:defRPr>
            </a:pPr>
            <a:r>
              <a:rPr sz="1350" b="0">
                <a:solidFill>
                  <a:srgbClr val="786B70"/>
                </a:solidFill>
                <a:latin typeface="Arial"/>
                <a:ea typeface="Arial"/>
                <a:cs typeface="Arial"/>
              </a:rPr>
              <a:t>Synthetic tuition due 12 October 2026. Same illustrative rates and fees in both methods.</a:t>
            </a:r>
          </a:p>
        </p:txBody>
      </p:sp>
    </p:spTree>
    <p:extLst>
      <p:ext uri="{BB962C8B-B14F-4D97-AF65-F5344CB8AC3E}">
        <p14:creationId xmlns:p14="http://schemas.microsoft.com/office/powerpoint/2010/main" val="70641344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C127B9-B60D-4F32-87D0-D58A6399FE87}"/>
              </a:ext>
            </a:extLst>
          </p:cNvPr>
          <p:cNvSpPr>
            <a:spLocks xmlns:a="http://schemas.openxmlformats.org/drawingml/2006/main" noGrp="1"/>
          </p:cNvSpPr>
          <p:nvPr/>
        </p:nvSpPr>
        <p:spPr>
          <a:xfrm xmlns:a="http://schemas.openxmlformats.org/drawingml/2006/main">
            <a:off x="666750" y="523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493342"/>
                </a:solidFill>
                <a:latin typeface="Georgia"/>
                <a:ea typeface="Georgia"/>
                <a:cs typeface="Georgia"/>
              </a:defRPr>
            </a:defPPr>
          </a:lstStyle>
          <a:p xmlns:a="http://schemas.openxmlformats.org/drawingml/2006/main">
            <a:pPr>
              <a:defRPr sz="3600" b="0">
                <a:solidFill>
                  <a:srgbClr val="493342"/>
                </a:solidFill>
                <a:latin typeface="Georgia"/>
                <a:ea typeface="Georgia"/>
                <a:cs typeface="Georgia"/>
              </a:defRPr>
            </a:pPr>
            <a:r>
              <a:rPr sz="3600" b="0">
                <a:solidFill>
                  <a:srgbClr val="493342"/>
                </a:solidFill>
                <a:latin typeface="Georgia"/>
                <a:ea typeface="Georgia"/>
                <a:cs typeface="Georgia"/>
              </a:rPr>
              <a:t>Approval belongs to the student</a:t>
            </a:r>
          </a:p>
        </p:txBody>
      </p:sp>
      <p:sp>
        <p:nvSpPr>
          <p:cNvPr id="2" name="">
            <a:extLst xmlns:a="http://schemas.openxmlformats.org/drawingml/2006/main">
              <a:ext uri="{FF2B5EF4-FFF2-40B4-BE49-F238E27FC236}">
                <a16:creationId xmlns:a16="http://schemas.microsoft.com/office/drawing/2014/main" id="{19374817-DD83-4965-8B6D-1BA09CD840D5}"/>
              </a:ext>
            </a:extLst>
          </p:cNvPr>
          <p:cNvSpPr>
            <a:spLocks xmlns:a="http://schemas.openxmlformats.org/drawingml/2006/main" noGrp="1"/>
          </p:cNvSpPr>
          <p:nvPr/>
        </p:nvSpPr>
        <p:spPr>
          <a:xfrm xmlns:a="http://schemas.openxmlformats.org/drawingml/2006/main">
            <a:off x="666750" y="1762125"/>
            <a:ext cx="3714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493342"/>
                </a:solidFill>
                <a:latin typeface="Arial"/>
                <a:ea typeface="Arial"/>
                <a:cs typeface="Arial"/>
              </a:defRPr>
            </a:defPPr>
          </a:lstStyle>
          <a:p xmlns:a="http://schemas.openxmlformats.org/drawingml/2006/main">
            <a:pPr>
              <a:defRPr sz="2400" b="0">
                <a:solidFill>
                  <a:srgbClr val="493342"/>
                </a:solidFill>
                <a:latin typeface="Arial"/>
                <a:ea typeface="Arial"/>
                <a:cs typeface="Arial"/>
              </a:defRPr>
            </a:pPr>
            <a:r>
              <a:rPr sz="2400" b="0">
                <a:solidFill>
                  <a:srgbClr val="493342"/>
                </a:solidFill>
                <a:latin typeface="Arial"/>
                <a:ea typeface="Arial"/>
                <a:cs typeface="Arial"/>
              </a:rPr>
              <a:t>Agent authority</a:t>
            </a:r>
          </a:p>
          <a:p xmlns:a="http://schemas.openxmlformats.org/drawingml/2006/main">
            <a:pPr>
              <a:defRPr sz="2400" b="0">
                <a:solidFill>
                  <a:srgbClr val="493342"/>
                </a:solidFill>
                <a:latin typeface="Arial"/>
                <a:ea typeface="Arial"/>
                <a:cs typeface="Arial"/>
              </a:defRPr>
            </a:pPr>
            <a:r>
              <a:rPr sz="2400" b="0">
                <a:solidFill>
                  <a:srgbClr val="493342"/>
                </a:solidFill>
                <a:latin typeface="Arial"/>
                <a:ea typeface="Arial"/>
                <a:cs typeface="Arial"/>
              </a:rPr>
              <a:t>Read and compare</a:t>
            </a:r>
          </a:p>
          <a:p xmlns:a="http://schemas.openxmlformats.org/drawingml/2006/main">
            <a:pPr>
              <a:defRPr sz="2400" b="0">
                <a:solidFill>
                  <a:srgbClr val="493342"/>
                </a:solidFill>
                <a:latin typeface="Arial"/>
                <a:ea typeface="Arial"/>
                <a:cs typeface="Arial"/>
              </a:defRPr>
            </a:pPr>
            <a:r>
              <a:rPr sz="2400" b="0">
                <a:solidFill>
                  <a:srgbClr val="493342"/>
                </a:solidFill>
                <a:latin typeface="Arial"/>
                <a:ea typeface="Arial"/>
                <a:cs typeface="Arial"/>
              </a:rPr>
              <a:t>Forecast and prepare</a:t>
            </a:r>
          </a:p>
        </p:txBody>
      </p:sp>
      <p:sp>
        <p:nvSpPr>
          <p:cNvPr id="3" name="">
            <a:extLst xmlns:a="http://schemas.openxmlformats.org/drawingml/2006/main">
              <a:ext uri="{FF2B5EF4-FFF2-40B4-BE49-F238E27FC236}">
                <a16:creationId xmlns:a16="http://schemas.microsoft.com/office/drawing/2014/main" id="{27E990A3-A6A0-4A9E-8F5D-CC7EC0101193}"/>
              </a:ext>
            </a:extLst>
          </p:cNvPr>
          <p:cNvSpPr>
            <a:spLocks xmlns:a="http://schemas.openxmlformats.org/drawingml/2006/main" noGrp="1"/>
          </p:cNvSpPr>
          <p:nvPr/>
        </p:nvSpPr>
        <p:spPr>
          <a:xfrm xmlns:a="http://schemas.openxmlformats.org/drawingml/2006/main">
            <a:off x="666750" y="4048125"/>
            <a:ext cx="3714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493342"/>
                </a:solidFill>
                <a:latin typeface="Arial"/>
                <a:ea typeface="Arial"/>
                <a:cs typeface="Arial"/>
              </a:defRPr>
            </a:defPPr>
          </a:lstStyle>
          <a:p xmlns:a="http://schemas.openxmlformats.org/drawingml/2006/main">
            <a:pPr>
              <a:defRPr sz="2400" b="0">
                <a:solidFill>
                  <a:srgbClr val="493342"/>
                </a:solidFill>
                <a:latin typeface="Arial"/>
                <a:ea typeface="Arial"/>
                <a:cs typeface="Arial"/>
              </a:defRPr>
            </a:pPr>
            <a:r>
              <a:rPr sz="2400" b="0">
                <a:solidFill>
                  <a:srgbClr val="493342"/>
                </a:solidFill>
                <a:latin typeface="Arial"/>
                <a:ea typeface="Arial"/>
                <a:cs typeface="Arial"/>
              </a:rPr>
              <a:t>User authority</a:t>
            </a:r>
          </a:p>
          <a:p xmlns:a="http://schemas.openxmlformats.org/drawingml/2006/main">
            <a:pPr>
              <a:defRPr sz="2400" b="0">
                <a:solidFill>
                  <a:srgbClr val="493342"/>
                </a:solidFill>
                <a:latin typeface="Arial"/>
                <a:ea typeface="Arial"/>
                <a:cs typeface="Arial"/>
              </a:defRPr>
            </a:pPr>
            <a:r>
              <a:rPr sz="2400" b="0">
                <a:solidFill>
                  <a:srgbClr val="493342"/>
                </a:solidFill>
                <a:latin typeface="Arial"/>
                <a:ea typeface="Arial"/>
                <a:cs typeface="Arial"/>
              </a:rPr>
              <a:t>Review exact details</a:t>
            </a:r>
          </a:p>
          <a:p xmlns:a="http://schemas.openxmlformats.org/drawingml/2006/main">
            <a:pPr>
              <a:defRPr sz="2400" b="0">
                <a:solidFill>
                  <a:srgbClr val="493342"/>
                </a:solidFill>
                <a:latin typeface="Arial"/>
                <a:ea typeface="Arial"/>
                <a:cs typeface="Arial"/>
              </a:defRPr>
            </a:pPr>
            <a:r>
              <a:rPr sz="2400" b="0">
                <a:solidFill>
                  <a:srgbClr val="493342"/>
                </a:solidFill>
                <a:latin typeface="Arial"/>
                <a:ea typeface="Arial"/>
                <a:cs typeface="Arial"/>
              </a:rPr>
              <a:t>Approve with a PIN</a:t>
            </a:r>
          </a:p>
        </p:txBody>
      </p:sp>
      <p:pic>
        <p:nvPicPr>
          <p:cNvPr id="4" name="">
            <a:extLst xmlns:a="http://schemas.openxmlformats.org/drawingml/2006/main">
              <a:ext uri="{FF2B5EF4-FFF2-40B4-BE49-F238E27FC236}">
                <a16:creationId xmlns:a16="http://schemas.microsoft.com/office/drawing/2014/main" id="{5F890EEE-63CB-4217-AFFF-515171B2B0CC}"/>
              </a:ext>
            </a:extLst>
          </p:cNvPr>
          <p:cNvPicPr>
            <a:picLocks xmlns:a="http://schemas.openxmlformats.org/drawingml/2006/main" noChangeAspect="1"/>
          </p:cNvPicPr>
          <p:nvPr/>
        </p:nvPicPr>
        <p:blipFill>
          <a:blip xmlns:r="http://schemas.openxmlformats.org/officeDocument/2006/relationships" xmlns:a="http://schemas.openxmlformats.org/drawingml/2006/main" r:embed="Ra44f0e41a0604ee7"/>
          <a:stretch xmlns:a="http://schemas.openxmlformats.org/drawingml/2006/main"/>
        </p:blipFill>
        <p:spPr>
          <a:xfrm xmlns:a="http://schemas.openxmlformats.org/drawingml/2006/main">
            <a:off x="4667250" y="1798154"/>
            <a:ext cx="6810375" cy="383319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EA8F6D7-6642-4019-9E16-0E7FCE28B81C}"/>
              </a:ext>
            </a:extLst>
          </p:cNvPr>
          <p:cNvSpPr>
            <a:spLocks xmlns:a="http://schemas.openxmlformats.org/drawingml/2006/main" noGrp="1"/>
          </p:cNvSpPr>
          <p:nvPr/>
        </p:nvSpPr>
        <p:spPr>
          <a:xfrm xmlns:a="http://schemas.openxmlformats.org/drawingml/2006/main">
            <a:off x="666750" y="6000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86B70"/>
                </a:solidFill>
                <a:latin typeface="Arial"/>
                <a:ea typeface="Arial"/>
                <a:cs typeface="Arial"/>
              </a:defRPr>
            </a:defPPr>
          </a:lstStyle>
          <a:p xmlns:a="http://schemas.openxmlformats.org/drawingml/2006/main">
            <a:pPr>
              <a:defRPr sz="1350" b="0">
                <a:solidFill>
                  <a:srgbClr val="786B70"/>
                </a:solidFill>
                <a:latin typeface="Arial"/>
                <a:ea typeface="Arial"/>
                <a:cs typeface="Arial"/>
              </a:defRPr>
            </a:pPr>
            <a:r>
              <a:rPr sz="1350" b="0">
                <a:solidFill>
                  <a:srgbClr val="786B70"/>
                </a:solidFill>
                <a:latin typeface="Arial"/>
                <a:ea typeface="Arial"/>
                <a:cs typeface="Arial"/>
              </a:rPr>
              <a:t>Encrypted local vault, session isolation, bounded tools and an audit chain support the approval boundary.</a:t>
            </a:r>
          </a:p>
        </p:txBody>
      </p:sp>
    </p:spTree>
    <p:extLst>
      <p:ext uri="{BB962C8B-B14F-4D97-AF65-F5344CB8AC3E}">
        <p14:creationId xmlns:p14="http://schemas.microsoft.com/office/powerpoint/2010/main" val="560010756"/>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6092CA-0AD8-4BB3-AA2B-4D15C4C2E949}"/>
              </a:ext>
            </a:extLst>
          </p:cNvPr>
          <p:cNvSpPr>
            <a:spLocks xmlns:a="http://schemas.openxmlformats.org/drawingml/2006/main" noGrp="1"/>
          </p:cNvSpPr>
          <p:nvPr/>
        </p:nvSpPr>
        <p:spPr>
          <a:xfrm xmlns:a="http://schemas.openxmlformats.org/drawingml/2006/main">
            <a:off x="666750" y="523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493342"/>
                </a:solidFill>
                <a:latin typeface="Georgia"/>
                <a:ea typeface="Georgia"/>
                <a:cs typeface="Georgia"/>
              </a:defRPr>
            </a:defPPr>
          </a:lstStyle>
          <a:p xmlns:a="http://schemas.openxmlformats.org/drawingml/2006/main">
            <a:pPr>
              <a:defRPr sz="3600" b="0">
                <a:solidFill>
                  <a:srgbClr val="493342"/>
                </a:solidFill>
                <a:latin typeface="Georgia"/>
                <a:ea typeface="Georgia"/>
                <a:cs typeface="Georgia"/>
              </a:defRPr>
            </a:pPr>
            <a:r>
              <a:rPr sz="3600" b="0">
                <a:solidFill>
                  <a:srgbClr val="493342"/>
                </a:solidFill>
                <a:latin typeface="Georgia"/>
                <a:ea typeface="Georgia"/>
                <a:cs typeface="Georgia"/>
              </a:rPr>
              <a:t>Reference data has a visible source</a:t>
            </a:r>
          </a:p>
        </p:txBody>
      </p:sp>
      <p:sp>
        <p:nvSpPr>
          <p:cNvPr id="2" name="">
            <a:extLst xmlns:a="http://schemas.openxmlformats.org/drawingml/2006/main">
              <a:ext uri="{FF2B5EF4-FFF2-40B4-BE49-F238E27FC236}">
                <a16:creationId xmlns:a16="http://schemas.microsoft.com/office/drawing/2014/main" id="{150BA4BE-1038-4332-9184-1B3B71A0BB3C}"/>
              </a:ext>
            </a:extLst>
          </p:cNvPr>
          <p:cNvSpPr>
            <a:spLocks xmlns:a="http://schemas.openxmlformats.org/drawingml/2006/main" noGrp="1"/>
          </p:cNvSpPr>
          <p:nvPr/>
        </p:nvSpPr>
        <p:spPr>
          <a:xfrm xmlns:a="http://schemas.openxmlformats.org/drawingml/2006/main">
            <a:off x="666750" y="18764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493342"/>
                </a:solidFill>
                <a:latin typeface="Georgia"/>
                <a:ea typeface="Georgia"/>
                <a:cs typeface="Georgia"/>
              </a:defRPr>
            </a:defPPr>
          </a:lstStyle>
          <a:p xmlns:a="http://schemas.openxmlformats.org/drawingml/2006/main">
            <a:pPr>
              <a:defRPr sz="3375" b="0">
                <a:solidFill>
                  <a:srgbClr val="493342"/>
                </a:solidFill>
                <a:latin typeface="Georgia"/>
                <a:ea typeface="Georgia"/>
                <a:cs typeface="Georgia"/>
              </a:defRPr>
            </a:pPr>
            <a:r>
              <a:rPr sz="3375" b="0">
                <a:solidFill>
                  <a:srgbClr val="493342"/>
                </a:solidFill>
                <a:latin typeface="Georgia"/>
                <a:ea typeface="Georgia"/>
                <a:cs typeface="Georgia"/>
              </a:rPr>
              <a:t>European Central Bank</a:t>
            </a:r>
          </a:p>
        </p:txBody>
      </p:sp>
      <p:sp>
        <p:nvSpPr>
          <p:cNvPr id="3" name="">
            <a:extLst xmlns:a="http://schemas.openxmlformats.org/drawingml/2006/main">
              <a:ext uri="{FF2B5EF4-FFF2-40B4-BE49-F238E27FC236}">
                <a16:creationId xmlns:a16="http://schemas.microsoft.com/office/drawing/2014/main" id="{6E83535F-CBE9-411F-946C-84B26C32E9B6}"/>
              </a:ext>
            </a:extLst>
          </p:cNvPr>
          <p:cNvSpPr>
            <a:spLocks xmlns:a="http://schemas.openxmlformats.org/drawingml/2006/main" noGrp="1"/>
          </p:cNvSpPr>
          <p:nvPr/>
        </p:nvSpPr>
        <p:spPr>
          <a:xfrm xmlns:a="http://schemas.openxmlformats.org/drawingml/2006/main">
            <a:off x="666750" y="2857500"/>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493342"/>
                </a:solidFill>
                <a:latin typeface="Arial"/>
                <a:ea typeface="Arial"/>
                <a:cs typeface="Arial"/>
              </a:defRPr>
            </a:defPPr>
          </a:lstStyle>
          <a:p xmlns:a="http://schemas.openxmlformats.org/drawingml/2006/main">
            <a:pPr>
              <a:defRPr sz="2550" b="0">
                <a:solidFill>
                  <a:srgbClr val="493342"/>
                </a:solidFill>
                <a:latin typeface="Arial"/>
                <a:ea typeface="Arial"/>
                <a:cs typeface="Arial"/>
              </a:defRPr>
            </a:pPr>
            <a:r>
              <a:rPr sz="2550" b="0">
                <a:solidFill>
                  <a:srgbClr val="493342"/>
                </a:solidFill>
                <a:latin typeface="Arial"/>
                <a:ea typeface="Arial"/>
                <a:cs typeface="Arial"/>
              </a:rPr>
              <a:t>Observation: 9 October 2026</a:t>
            </a:r>
          </a:p>
          <a:p xmlns:a="http://schemas.openxmlformats.org/drawingml/2006/main">
            <a:pPr>
              <a:defRPr sz="2550" b="0">
                <a:solidFill>
                  <a:srgbClr val="493342"/>
                </a:solidFill>
                <a:latin typeface="Arial"/>
                <a:ea typeface="Arial"/>
                <a:cs typeface="Arial"/>
              </a:defRPr>
            </a:pPr>
            <a:r>
              <a:rPr sz="2550" b="0">
                <a:solidFill>
                  <a:srgbClr val="493342"/>
                </a:solidFill>
                <a:latin typeface="Arial"/>
                <a:ea typeface="Arial"/>
                <a:cs typeface="Arial"/>
              </a:rPr>
              <a:t>1 EUR = 0.84763 GBP</a:t>
            </a:r>
          </a:p>
          <a:p xmlns:a="http://schemas.openxmlformats.org/drawingml/2006/main">
            <a:pPr>
              <a:defRPr sz="2550" b="0">
                <a:solidFill>
                  <a:srgbClr val="493342"/>
                </a:solidFill>
                <a:latin typeface="Arial"/>
                <a:ea typeface="Arial"/>
                <a:cs typeface="Arial"/>
              </a:defRPr>
            </a:pPr>
            <a:r>
              <a:rPr sz="2550" b="0">
                <a:solidFill>
                  <a:srgbClr val="493342"/>
                </a:solidFill>
                <a:latin typeface="Arial"/>
                <a:ea typeface="Arial"/>
                <a:cs typeface="Arial"/>
              </a:rPr>
              <a:t>1 EUR = 7.4992 CNY</a:t>
            </a:r>
          </a:p>
        </p:txBody>
      </p:sp>
      <p:sp>
        <p:nvSpPr>
          <p:cNvPr id="4" name="">
            <a:extLst xmlns:a="http://schemas.openxmlformats.org/drawingml/2006/main">
              <a:ext uri="{FF2B5EF4-FFF2-40B4-BE49-F238E27FC236}">
                <a16:creationId xmlns:a16="http://schemas.microsoft.com/office/drawing/2014/main" id="{B25D17E6-22CB-4A2F-8EB7-F99C09959F54}"/>
              </a:ext>
            </a:extLst>
          </p:cNvPr>
          <p:cNvSpPr>
            <a:spLocks xmlns:a="http://schemas.openxmlformats.org/drawingml/2006/main" noGrp="1"/>
          </p:cNvSpPr>
          <p:nvPr/>
        </p:nvSpPr>
        <p:spPr>
          <a:xfrm xmlns:a="http://schemas.openxmlformats.org/drawingml/2006/main">
            <a:off x="7524750" y="285750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93342"/>
                </a:solidFill>
                <a:latin typeface="Arial"/>
                <a:ea typeface="Arial"/>
                <a:cs typeface="Arial"/>
              </a:defRPr>
            </a:defPPr>
          </a:lstStyle>
          <a:p xmlns:a="http://schemas.openxmlformats.org/drawingml/2006/main">
            <a:pPr>
              <a:defRPr sz="2175" b="0">
                <a:solidFill>
                  <a:srgbClr val="493342"/>
                </a:solidFill>
                <a:latin typeface="Arial"/>
                <a:ea typeface="Arial"/>
                <a:cs typeface="Arial"/>
              </a:defRPr>
            </a:pPr>
            <a:r>
              <a:rPr sz="2175" b="0">
                <a:solidFill>
                  <a:srgbClr val="493342"/>
                </a:solidFill>
                <a:latin typeface="Arial"/>
                <a:ea typeface="Arial"/>
                <a:cs typeface="Arial"/>
              </a:rPr>
              <a:t>Dated reference</a:t>
            </a:r>
          </a:p>
          <a:p xmlns:a="http://schemas.openxmlformats.org/drawingml/2006/main">
            <a:pPr>
              <a:defRPr sz="2175" b="0">
                <a:solidFill>
                  <a:srgbClr val="493342"/>
                </a:solidFill>
                <a:latin typeface="Arial"/>
                <a:ea typeface="Arial"/>
                <a:cs typeface="Arial"/>
              </a:defRPr>
            </a:pPr>
            <a:r>
              <a:rPr sz="2175" b="0">
                <a:solidFill>
                  <a:srgbClr val="493342"/>
                </a:solidFill>
                <a:latin typeface="Arial"/>
                <a:ea typeface="Arial"/>
                <a:cs typeface="Arial"/>
              </a:rPr>
              <a:t>Freshness status</a:t>
            </a:r>
          </a:p>
          <a:p xmlns:a="http://schemas.openxmlformats.org/drawingml/2006/main">
            <a:pPr>
              <a:defRPr sz="2175" b="0">
                <a:solidFill>
                  <a:srgbClr val="493342"/>
                </a:solidFill>
                <a:latin typeface="Arial"/>
                <a:ea typeface="Arial"/>
                <a:cs typeface="Arial"/>
              </a:defRPr>
            </a:pPr>
            <a:r>
              <a:rPr sz="2175" b="0">
                <a:solidFill>
                  <a:srgbClr val="493342"/>
                </a:solidFill>
                <a:latin typeface="Arial"/>
                <a:ea typeface="Arial"/>
                <a:cs typeface="Arial"/>
              </a:rPr>
              <a:t>Validated offline fallback</a:t>
            </a:r>
          </a:p>
        </p:txBody>
      </p:sp>
      <p:sp>
        <p:nvSpPr>
          <p:cNvPr id="5" name="">
            <a:extLst xmlns:a="http://schemas.openxmlformats.org/drawingml/2006/main">
              <a:ext uri="{FF2B5EF4-FFF2-40B4-BE49-F238E27FC236}">
                <a16:creationId xmlns:a16="http://schemas.microsoft.com/office/drawing/2014/main" id="{FE0E8882-178A-4A68-B0BB-09EACDA5ABA8}"/>
              </a:ext>
            </a:extLst>
          </p:cNvPr>
          <p:cNvSpPr>
            <a:spLocks xmlns:a="http://schemas.openxmlformats.org/drawingml/2006/main" noGrp="1"/>
          </p:cNvSpPr>
          <p:nvPr/>
        </p:nvSpPr>
        <p:spPr>
          <a:xfrm xmlns:a="http://schemas.openxmlformats.org/drawingml/2006/main">
            <a:off x="666750" y="6000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86B70"/>
                </a:solidFill>
                <a:latin typeface="Arial"/>
                <a:ea typeface="Arial"/>
                <a:cs typeface="Arial"/>
              </a:defRPr>
            </a:defPPr>
          </a:lstStyle>
          <a:p xmlns:a="http://schemas.openxmlformats.org/drawingml/2006/main">
            <a:pPr>
              <a:defRPr sz="1350" b="0">
                <a:solidFill>
                  <a:srgbClr val="786B70"/>
                </a:solidFill>
                <a:latin typeface="Arial"/>
                <a:ea typeface="Arial"/>
                <a:cs typeface="Arial"/>
              </a:defRPr>
            </a:pPr>
            <a:r>
              <a:rPr sz="1350" b="0">
                <a:solidFill>
                  <a:srgbClr val="786B70"/>
                </a:solidFill>
                <a:latin typeface="Arial"/>
                <a:ea typeface="Arial"/>
                <a:cs typeface="Arial"/>
              </a:rPr>
              <a:t>Information only. Provider fees, rates, arrival estimates and execution remain simulated.</a:t>
            </a:r>
          </a:p>
        </p:txBody>
      </p:sp>
    </p:spTree>
    <p:extLst>
      <p:ext uri="{BB962C8B-B14F-4D97-AF65-F5344CB8AC3E}">
        <p14:creationId xmlns:p14="http://schemas.microsoft.com/office/powerpoint/2010/main" val="599758673"/>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47D2FF-23B3-4DCB-ACC7-C134E2FF12D0}"/>
              </a:ext>
            </a:extLst>
          </p:cNvPr>
          <p:cNvSpPr>
            <a:spLocks xmlns:a="http://schemas.openxmlformats.org/drawingml/2006/main" noGrp="1"/>
          </p:cNvSpPr>
          <p:nvPr/>
        </p:nvSpPr>
        <p:spPr>
          <a:xfrm xmlns:a="http://schemas.openxmlformats.org/drawingml/2006/main">
            <a:off x="666750" y="523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493342"/>
                </a:solidFill>
                <a:latin typeface="Georgia"/>
                <a:ea typeface="Georgia"/>
                <a:cs typeface="Georgia"/>
              </a:defRPr>
            </a:defPPr>
          </a:lstStyle>
          <a:p xmlns:a="http://schemas.openxmlformats.org/drawingml/2006/main">
            <a:pPr>
              <a:defRPr sz="3600" b="0">
                <a:solidFill>
                  <a:srgbClr val="493342"/>
                </a:solidFill>
                <a:latin typeface="Georgia"/>
                <a:ea typeface="Georgia"/>
                <a:cs typeface="Georgia"/>
              </a:defRPr>
            </a:pPr>
            <a:r>
              <a:rPr sz="3600" b="0">
                <a:solidFill>
                  <a:srgbClr val="493342"/>
                </a:solidFill>
                <a:latin typeface="Georgia"/>
                <a:ea typeface="Georgia"/>
                <a:cs typeface="Georgia"/>
              </a:rPr>
              <a:t>English and Chinese explanations</a:t>
            </a:r>
          </a:p>
        </p:txBody>
      </p:sp>
      <p:sp>
        <p:nvSpPr>
          <p:cNvPr id="2" name="">
            <a:extLst xmlns:a="http://schemas.openxmlformats.org/drawingml/2006/main">
              <a:ext uri="{FF2B5EF4-FFF2-40B4-BE49-F238E27FC236}">
                <a16:creationId xmlns:a16="http://schemas.microsoft.com/office/drawing/2014/main" id="{A4ABD74F-0587-42A1-8046-A5BE52AF8637}"/>
              </a:ext>
            </a:extLst>
          </p:cNvPr>
          <p:cNvSpPr>
            <a:spLocks xmlns:a="http://schemas.openxmlformats.org/drawingml/2006/main" noGrp="1"/>
          </p:cNvSpPr>
          <p:nvPr/>
        </p:nvSpPr>
        <p:spPr>
          <a:xfrm xmlns:a="http://schemas.openxmlformats.org/drawingml/2006/main">
            <a:off x="666750" y="1866900"/>
            <a:ext cx="4191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493342"/>
                </a:solidFill>
                <a:latin typeface="Arial"/>
                <a:ea typeface="Arial"/>
                <a:cs typeface="Arial"/>
              </a:defRPr>
            </a:defPPr>
          </a:lstStyle>
          <a:p xmlns:a="http://schemas.openxmlformats.org/drawingml/2006/main">
            <a:pPr>
              <a:defRPr sz="2400" b="0">
                <a:solidFill>
                  <a:srgbClr val="493342"/>
                </a:solidFill>
                <a:latin typeface="Arial"/>
                <a:ea typeface="Arial"/>
                <a:cs typeface="Arial"/>
              </a:defRPr>
            </a:pPr>
            <a:r>
              <a:rPr sz="2400" b="0">
                <a:solidFill>
                  <a:srgbClr val="493342"/>
                </a:solidFill>
                <a:latin typeface="Arial"/>
                <a:ea typeface="Arial"/>
                <a:cs typeface="Arial"/>
              </a:rPr>
              <a:t>A student can ask in either language.</a:t>
            </a:r>
          </a:p>
          <a:p xmlns:a="http://schemas.openxmlformats.org/drawingml/2006/main">
            <a:pPr>
              <a:defRPr sz="2400" b="0">
                <a:solidFill>
                  <a:srgbClr val="493342"/>
                </a:solidFill>
                <a:latin typeface="Arial"/>
                <a:ea typeface="Arial"/>
                <a:cs typeface="Arial"/>
              </a:defRPr>
            </a:pPr>
            <a:r>
              <a:rPr sz="2400" b="0">
                <a:solidFill>
                  <a:srgbClr val="493342"/>
                </a:solidFill>
                <a:latin typeface="Arial"/>
                <a:ea typeface="Arial"/>
                <a:cs typeface="Arial"/>
              </a:rPr>
              <a:t>The financial calculation stays the same.</a:t>
            </a:r>
          </a:p>
        </p:txBody>
      </p:sp>
      <p:sp>
        <p:nvSpPr>
          <p:cNvPr id="3" name="">
            <a:extLst xmlns:a="http://schemas.openxmlformats.org/drawingml/2006/main">
              <a:ext uri="{FF2B5EF4-FFF2-40B4-BE49-F238E27FC236}">
                <a16:creationId xmlns:a16="http://schemas.microsoft.com/office/drawing/2014/main" id="{59B14ECF-4A9E-456E-87DD-138D79317114}"/>
              </a:ext>
            </a:extLst>
          </p:cNvPr>
          <p:cNvSpPr>
            <a:spLocks xmlns:a="http://schemas.openxmlformats.org/drawingml/2006/main" noGrp="1"/>
          </p:cNvSpPr>
          <p:nvPr/>
        </p:nvSpPr>
        <p:spPr>
          <a:xfrm xmlns:a="http://schemas.openxmlformats.org/drawingml/2006/main">
            <a:off x="666750" y="4114800"/>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93342"/>
                </a:solidFill>
                <a:latin typeface="Arial"/>
                <a:ea typeface="Arial"/>
                <a:cs typeface="Arial"/>
              </a:defRPr>
            </a:defPPr>
          </a:lstStyle>
          <a:p xmlns:a="http://schemas.openxmlformats.org/drawingml/2006/main">
            <a:pPr>
              <a:defRPr sz="2025" b="0">
                <a:solidFill>
                  <a:srgbClr val="493342"/>
                </a:solidFill>
                <a:latin typeface="Arial"/>
                <a:ea typeface="Arial"/>
                <a:cs typeface="Arial"/>
              </a:defRPr>
            </a:pPr>
            <a:r>
              <a:rPr sz="2025" b="0">
                <a:solidFill>
                  <a:srgbClr val="493342"/>
                </a:solidFill>
                <a:latin typeface="Arial"/>
                <a:ea typeface="Arial"/>
                <a:cs typeface="Arial"/>
              </a:rPr>
              <a:t>Clarification and correction</a:t>
            </a:r>
          </a:p>
          <a:p xmlns:a="http://schemas.openxmlformats.org/drawingml/2006/main">
            <a:pPr>
              <a:defRPr sz="2025" b="0">
                <a:solidFill>
                  <a:srgbClr val="493342"/>
                </a:solidFill>
                <a:latin typeface="Arial"/>
                <a:ea typeface="Arial"/>
                <a:cs typeface="Arial"/>
              </a:defRPr>
            </a:pPr>
            <a:r>
              <a:rPr sz="2025" b="0">
                <a:solidFill>
                  <a:srgbClr val="493342"/>
                </a:solidFill>
                <a:latin typeface="Arial"/>
                <a:ea typeface="Arial"/>
                <a:cs typeface="Arial"/>
              </a:rPr>
              <a:t>Exact numeric conclusions</a:t>
            </a:r>
          </a:p>
          <a:p xmlns:a="http://schemas.openxmlformats.org/drawingml/2006/main">
            <a:pPr>
              <a:defRPr sz="2025" b="0">
                <a:solidFill>
                  <a:srgbClr val="493342"/>
                </a:solidFill>
                <a:latin typeface="Arial"/>
                <a:ea typeface="Arial"/>
                <a:cs typeface="Arial"/>
              </a:defRPr>
            </a:pPr>
            <a:r>
              <a:rPr sz="2025" b="0">
                <a:solidFill>
                  <a:srgbClr val="493342"/>
                </a:solidFill>
                <a:latin typeface="Arial"/>
                <a:ea typeface="Arial"/>
                <a:cs typeface="Arial"/>
              </a:rPr>
              <a:t>The same approval controls</a:t>
            </a:r>
          </a:p>
        </p:txBody>
      </p:sp>
      <p:pic>
        <p:nvPicPr>
          <p:cNvPr id="4" name="">
            <a:extLst xmlns:a="http://schemas.openxmlformats.org/drawingml/2006/main">
              <a:ext uri="{FF2B5EF4-FFF2-40B4-BE49-F238E27FC236}">
                <a16:creationId xmlns:a16="http://schemas.microsoft.com/office/drawing/2014/main" id="{9FFAE84C-0708-4F0E-9140-E85A56BDD53A}"/>
              </a:ext>
            </a:extLst>
          </p:cNvPr>
          <p:cNvPicPr>
            <a:picLocks xmlns:a="http://schemas.openxmlformats.org/drawingml/2006/main" noChangeAspect="1"/>
          </p:cNvPicPr>
          <p:nvPr/>
        </p:nvPicPr>
        <p:blipFill>
          <a:blip xmlns:r="http://schemas.openxmlformats.org/officeDocument/2006/relationships" xmlns:a="http://schemas.openxmlformats.org/drawingml/2006/main" r:embed="R7f3ac33156ac4870"/>
          <a:stretch xmlns:a="http://schemas.openxmlformats.org/drawingml/2006/main"/>
        </p:blipFill>
        <p:spPr>
          <a:xfrm xmlns:a="http://schemas.openxmlformats.org/drawingml/2006/main">
            <a:off x="5334000" y="1999196"/>
            <a:ext cx="6096000" cy="34311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76FA08F-CEBB-481A-BBB0-7AD6BE042A86}"/>
              </a:ext>
            </a:extLst>
          </p:cNvPr>
          <p:cNvSpPr>
            <a:spLocks xmlns:a="http://schemas.openxmlformats.org/drawingml/2006/main" noGrp="1"/>
          </p:cNvSpPr>
          <p:nvPr/>
        </p:nvSpPr>
        <p:spPr>
          <a:xfrm xmlns:a="http://schemas.openxmlformats.org/drawingml/2006/main">
            <a:off x="666750" y="6000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86B70"/>
                </a:solidFill>
                <a:latin typeface="Arial"/>
                <a:ea typeface="Arial"/>
                <a:cs typeface="Arial"/>
              </a:defRPr>
            </a:defPPr>
          </a:lstStyle>
          <a:p xmlns:a="http://schemas.openxmlformats.org/drawingml/2006/main">
            <a:pPr>
              <a:defRPr sz="1350" b="0">
                <a:solidFill>
                  <a:srgbClr val="786B70"/>
                </a:solidFill>
                <a:latin typeface="Arial"/>
                <a:ea typeface="Arial"/>
                <a:cs typeface="Arial"/>
              </a:defRPr>
            </a:pPr>
            <a:r>
              <a:rPr sz="1350" b="0">
                <a:solidFill>
                  <a:srgbClr val="786B70"/>
                </a:solidFill>
                <a:latin typeface="Arial"/>
                <a:ea typeface="Arial"/>
                <a:cs typeface="Arial"/>
              </a:rPr>
              <a:t>Translation does not authorize a payment. Native-speaker usability testing remains to be conducted.</a:t>
            </a:r>
          </a:p>
        </p:txBody>
      </p:sp>
    </p:spTree>
    <p:extLst>
      <p:ext uri="{BB962C8B-B14F-4D97-AF65-F5344CB8AC3E}">
        <p14:creationId xmlns:p14="http://schemas.microsoft.com/office/powerpoint/2010/main" val="1459466407"/>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DB084C-D7A6-4AFB-8BFE-1F2DA0BD690F}"/>
              </a:ext>
            </a:extLst>
          </p:cNvPr>
          <p:cNvSpPr>
            <a:spLocks xmlns:a="http://schemas.openxmlformats.org/drawingml/2006/main" noGrp="1"/>
          </p:cNvSpPr>
          <p:nvPr/>
        </p:nvSpPr>
        <p:spPr>
          <a:xfrm xmlns:a="http://schemas.openxmlformats.org/drawingml/2006/main">
            <a:off x="666750" y="523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493342"/>
                </a:solidFill>
                <a:latin typeface="Georgia"/>
                <a:ea typeface="Georgia"/>
                <a:cs typeface="Georgia"/>
              </a:defRPr>
            </a:defPPr>
          </a:lstStyle>
          <a:p xmlns:a="http://schemas.openxmlformats.org/drawingml/2006/main">
            <a:pPr>
              <a:defRPr sz="3600" b="0">
                <a:solidFill>
                  <a:srgbClr val="493342"/>
                </a:solidFill>
                <a:latin typeface="Georgia"/>
                <a:ea typeface="Georgia"/>
                <a:cs typeface="Georgia"/>
              </a:defRPr>
            </a:pPr>
            <a:r>
              <a:rPr sz="3600" b="0">
                <a:solidFill>
                  <a:srgbClr val="493342"/>
                </a:solidFill>
                <a:latin typeface="Georgia"/>
                <a:ea typeface="Georgia"/>
                <a:cs typeface="Georgia"/>
              </a:rPr>
              <a:t>Measured results and their limits</a:t>
            </a:r>
          </a:p>
        </p:txBody>
      </p:sp>
      <p:sp>
        <p:nvSpPr>
          <p:cNvPr id="2" name="">
            <a:extLst xmlns:a="http://schemas.openxmlformats.org/drawingml/2006/main">
              <a:ext uri="{FF2B5EF4-FFF2-40B4-BE49-F238E27FC236}">
                <a16:creationId xmlns:a16="http://schemas.microsoft.com/office/drawing/2014/main" id="{2F38BD7D-62C9-4C7E-8080-D98409CFD489}"/>
              </a:ext>
            </a:extLst>
          </p:cNvPr>
          <p:cNvSpPr>
            <a:spLocks xmlns:a="http://schemas.openxmlformats.org/drawingml/2006/main" noGrp="1"/>
          </p:cNvSpPr>
          <p:nvPr/>
        </p:nvSpPr>
        <p:spPr>
          <a:xfrm xmlns:a="http://schemas.openxmlformats.org/drawingml/2006/main">
            <a:off x="666750" y="1762125"/>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0">
                <a:solidFill>
                  <a:srgbClr val="493342"/>
                </a:solidFill>
                <a:latin typeface="Georgia"/>
                <a:ea typeface="Georgia"/>
                <a:cs typeface="Georgia"/>
              </a:defRPr>
            </a:defPPr>
          </a:lstStyle>
          <a:p xmlns:a="http://schemas.openxmlformats.org/drawingml/2006/main">
            <a:pPr>
              <a:defRPr sz="6150" b="0">
                <a:solidFill>
                  <a:srgbClr val="493342"/>
                </a:solidFill>
                <a:latin typeface="Georgia"/>
                <a:ea typeface="Georgia"/>
                <a:cs typeface="Georgia"/>
              </a:defRPr>
            </a:pPr>
            <a:r>
              <a:rPr sz="6150" b="0">
                <a:solidFill>
                  <a:srgbClr val="493342"/>
                </a:solidFill>
                <a:latin typeface="Georgia"/>
                <a:ea typeface="Georgia"/>
                <a:cs typeface="Georgia"/>
              </a:rPr>
              <a:t>72 / 72</a:t>
            </a:r>
          </a:p>
        </p:txBody>
      </p:sp>
      <p:sp>
        <p:nvSpPr>
          <p:cNvPr id="3" name="">
            <a:extLst xmlns:a="http://schemas.openxmlformats.org/drawingml/2006/main">
              <a:ext uri="{FF2B5EF4-FFF2-40B4-BE49-F238E27FC236}">
                <a16:creationId xmlns:a16="http://schemas.microsoft.com/office/drawing/2014/main" id="{1699DCDB-EE2B-4466-B767-D8765AF7983F}"/>
              </a:ext>
            </a:extLst>
          </p:cNvPr>
          <p:cNvSpPr>
            <a:spLocks xmlns:a="http://schemas.openxmlformats.org/drawingml/2006/main" noGrp="1"/>
          </p:cNvSpPr>
          <p:nvPr/>
        </p:nvSpPr>
        <p:spPr>
          <a:xfrm xmlns:a="http://schemas.openxmlformats.org/drawingml/2006/main">
            <a:off x="666750" y="3057525"/>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93342"/>
                </a:solidFill>
                <a:latin typeface="Arial"/>
                <a:ea typeface="Arial"/>
                <a:cs typeface="Arial"/>
              </a:defRPr>
            </a:defPPr>
          </a:lstStyle>
          <a:p xmlns:a="http://schemas.openxmlformats.org/drawingml/2006/main">
            <a:pPr>
              <a:defRPr sz="2025" b="0">
                <a:solidFill>
                  <a:srgbClr val="493342"/>
                </a:solidFill>
                <a:latin typeface="Arial"/>
                <a:ea typeface="Arial"/>
                <a:cs typeface="Arial"/>
              </a:defRPr>
            </a:pPr>
            <a:r>
              <a:rPr sz="2025" b="0">
                <a:solidFill>
                  <a:srgbClr val="493342"/>
                </a:solidFill>
                <a:latin typeface="Arial"/>
                <a:ea typeface="Arial"/>
                <a:cs typeface="Arial"/>
              </a:rPr>
              <a:t>Live evaluation runs passing defined checks</a:t>
            </a:r>
          </a:p>
        </p:txBody>
      </p:sp>
      <p:sp>
        <p:nvSpPr>
          <p:cNvPr id="4" name="">
            <a:extLst xmlns:a="http://schemas.openxmlformats.org/drawingml/2006/main">
              <a:ext uri="{FF2B5EF4-FFF2-40B4-BE49-F238E27FC236}">
                <a16:creationId xmlns:a16="http://schemas.microsoft.com/office/drawing/2014/main" id="{4E1D5DC6-7D1F-451D-9C1E-3DB93739EFD2}"/>
              </a:ext>
            </a:extLst>
          </p:cNvPr>
          <p:cNvSpPr>
            <a:spLocks xmlns:a="http://schemas.openxmlformats.org/drawingml/2006/main" noGrp="1"/>
          </p:cNvSpPr>
          <p:nvPr/>
        </p:nvSpPr>
        <p:spPr>
          <a:xfrm xmlns:a="http://schemas.openxmlformats.org/drawingml/2006/main">
            <a:off x="6762750" y="1828800"/>
            <a:ext cx="476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93342"/>
                </a:solidFill>
                <a:latin typeface="Arial"/>
                <a:ea typeface="Arial"/>
                <a:cs typeface="Arial"/>
              </a:defRPr>
            </a:defPPr>
          </a:lstStyle>
          <a:p xmlns:a="http://schemas.openxmlformats.org/drawingml/2006/main">
            <a:pPr>
              <a:defRPr sz="2175" b="0">
                <a:solidFill>
                  <a:srgbClr val="493342"/>
                </a:solidFill>
                <a:latin typeface="Arial"/>
                <a:ea typeface="Arial"/>
                <a:cs typeface="Arial"/>
              </a:defRPr>
            </a:pPr>
            <a:r>
              <a:rPr sz="2175" b="0">
                <a:solidFill>
                  <a:srgbClr val="493342"/>
                </a:solidFill>
                <a:latin typeface="Arial"/>
                <a:ea typeface="Arial"/>
                <a:cs typeface="Arial"/>
              </a:rPr>
              <a:t>129 automated tests</a:t>
            </a:r>
          </a:p>
          <a:p xmlns:a="http://schemas.openxmlformats.org/drawingml/2006/main">
            <a:pPr>
              <a:defRPr sz="2175" b="0">
                <a:solidFill>
                  <a:srgbClr val="493342"/>
                </a:solidFill>
                <a:latin typeface="Arial"/>
                <a:ea typeface="Arial"/>
                <a:cs typeface="Arial"/>
              </a:defRPr>
            </a:pPr>
            <a:r>
              <a:rPr sz="2175" b="0">
                <a:solidFill>
                  <a:srgbClr val="493342"/>
                </a:solidFill>
                <a:latin typeface="Arial"/>
                <a:ea typeface="Arial"/>
                <a:cs typeface="Arial"/>
              </a:rPr>
              <a:t>24 scenarios, 3 repeats</a:t>
            </a:r>
          </a:p>
          <a:p xmlns:a="http://schemas.openxmlformats.org/drawingml/2006/main">
            <a:pPr>
              <a:defRPr sz="2175" b="0">
                <a:solidFill>
                  <a:srgbClr val="493342"/>
                </a:solidFill>
                <a:latin typeface="Arial"/>
                <a:ea typeface="Arial"/>
                <a:cs typeface="Arial"/>
              </a:defRPr>
            </a:pPr>
            <a:r>
              <a:rPr sz="2175" b="0">
                <a:solidFill>
                  <a:srgbClr val="493342"/>
                </a:solidFill>
                <a:latin typeface="Arial"/>
                <a:ea typeface="Arial"/>
                <a:cs typeface="Arial"/>
              </a:rPr>
              <a:t>0 observed balance or approval violations</a:t>
            </a:r>
          </a:p>
        </p:txBody>
      </p:sp>
      <p:sp>
        <p:nvSpPr>
          <p:cNvPr id="5" name="">
            <a:extLst xmlns:a="http://schemas.openxmlformats.org/drawingml/2006/main">
              <a:ext uri="{FF2B5EF4-FFF2-40B4-BE49-F238E27FC236}">
                <a16:creationId xmlns:a16="http://schemas.microsoft.com/office/drawing/2014/main" id="{59BE9778-5D24-4C54-AD68-1D8114E59552}"/>
              </a:ext>
            </a:extLst>
          </p:cNvPr>
          <p:cNvSpPr>
            <a:spLocks xmlns:a="http://schemas.openxmlformats.org/drawingml/2006/main" noGrp="1"/>
          </p:cNvSpPr>
          <p:nvPr/>
        </p:nvSpPr>
        <p:spPr>
          <a:xfrm xmlns:a="http://schemas.openxmlformats.org/drawingml/2006/main">
            <a:off x="6762750" y="41529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93342"/>
                </a:solidFill>
                <a:latin typeface="Arial"/>
                <a:ea typeface="Arial"/>
                <a:cs typeface="Arial"/>
              </a:defRPr>
            </a:defPPr>
          </a:lstStyle>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Median latency: 4.10 seconds</a:t>
            </a:r>
          </a:p>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95th percentile: 8.91 seconds</a:t>
            </a:r>
          </a:p>
        </p:txBody>
      </p:sp>
      <p:sp>
        <p:nvSpPr>
          <p:cNvPr id="6" name="">
            <a:extLst xmlns:a="http://schemas.openxmlformats.org/drawingml/2006/main">
              <a:ext uri="{FF2B5EF4-FFF2-40B4-BE49-F238E27FC236}">
                <a16:creationId xmlns:a16="http://schemas.microsoft.com/office/drawing/2014/main" id="{D292EDD0-887A-42D7-9DF5-0633E7E3E889}"/>
              </a:ext>
            </a:extLst>
          </p:cNvPr>
          <p:cNvSpPr>
            <a:spLocks xmlns:a="http://schemas.openxmlformats.org/drawingml/2006/main" noGrp="1"/>
          </p:cNvSpPr>
          <p:nvPr/>
        </p:nvSpPr>
        <p:spPr>
          <a:xfrm xmlns:a="http://schemas.openxmlformats.org/drawingml/2006/main">
            <a:off x="666750" y="6000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86B70"/>
                </a:solidFill>
                <a:latin typeface="Arial"/>
                <a:ea typeface="Arial"/>
                <a:cs typeface="Arial"/>
              </a:defRPr>
            </a:defPPr>
          </a:lstStyle>
          <a:p xmlns:a="http://schemas.openxmlformats.org/drawingml/2006/main">
            <a:pPr>
              <a:defRPr sz="1350" b="0">
                <a:solidFill>
                  <a:srgbClr val="786B70"/>
                </a:solidFill>
                <a:latin typeface="Arial"/>
                <a:ea typeface="Arial"/>
                <a:cs typeface="Arial"/>
              </a:defRPr>
            </a:pPr>
            <a:r>
              <a:rPr sz="1350" b="0">
                <a:solidFill>
                  <a:srgbClr val="786B70"/>
                </a:solidFill>
                <a:latin typeface="Arial"/>
                <a:ea typeface="Arial"/>
                <a:cs typeface="Arial"/>
              </a:rPr>
              <a:t>Bounded synthetic checks. Semantic assertions are incomplete. Human review found and informed a correction.</a:t>
            </a:r>
          </a:p>
        </p:txBody>
      </p:sp>
    </p:spTree>
    <p:extLst>
      <p:ext uri="{BB962C8B-B14F-4D97-AF65-F5344CB8AC3E}">
        <p14:creationId xmlns:p14="http://schemas.microsoft.com/office/powerpoint/2010/main" val="165761017"/>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3568F7-E53C-4A5A-A2CC-4379408D5AA2}"/>
              </a:ext>
            </a:extLst>
          </p:cNvPr>
          <p:cNvSpPr>
            <a:spLocks xmlns:a="http://schemas.openxmlformats.org/drawingml/2006/main" noGrp="1"/>
          </p:cNvSpPr>
          <p:nvPr/>
        </p:nvSpPr>
        <p:spPr>
          <a:xfrm xmlns:a="http://schemas.openxmlformats.org/drawingml/2006/main">
            <a:off x="666750" y="523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493342"/>
                </a:solidFill>
                <a:latin typeface="Georgia"/>
                <a:ea typeface="Georgia"/>
                <a:cs typeface="Georgia"/>
              </a:defRPr>
            </a:defPPr>
          </a:lstStyle>
          <a:p xmlns:a="http://schemas.openxmlformats.org/drawingml/2006/main">
            <a:pPr>
              <a:defRPr sz="3600" b="0">
                <a:solidFill>
                  <a:srgbClr val="493342"/>
                </a:solidFill>
                <a:latin typeface="Georgia"/>
                <a:ea typeface="Georgia"/>
                <a:cs typeface="Georgia"/>
              </a:defRPr>
            </a:pPr>
            <a:r>
              <a:rPr sz="3600" b="0">
                <a:solidFill>
                  <a:srgbClr val="493342"/>
                </a:solidFill>
                <a:latin typeface="Georgia"/>
                <a:ea typeface="Georgia"/>
                <a:cs typeface="Georgia"/>
              </a:rPr>
              <a:t>A focused path to real student use</a:t>
            </a:r>
          </a:p>
        </p:txBody>
      </p:sp>
      <p:sp>
        <p:nvSpPr>
          <p:cNvPr id="2" name="">
            <a:extLst xmlns:a="http://schemas.openxmlformats.org/drawingml/2006/main">
              <a:ext uri="{FF2B5EF4-FFF2-40B4-BE49-F238E27FC236}">
                <a16:creationId xmlns:a16="http://schemas.microsoft.com/office/drawing/2014/main" id="{6B3C0914-36D2-4E97-884B-098F68FABB67}"/>
              </a:ext>
            </a:extLst>
          </p:cNvPr>
          <p:cNvSpPr>
            <a:spLocks xmlns:a="http://schemas.openxmlformats.org/drawingml/2006/main" noGrp="1"/>
          </p:cNvSpPr>
          <p:nvPr/>
        </p:nvSpPr>
        <p:spPr>
          <a:xfrm xmlns:a="http://schemas.openxmlformats.org/drawingml/2006/main">
            <a:off x="666750" y="18478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493342"/>
                </a:solidFill>
                <a:latin typeface="Georgia"/>
                <a:ea typeface="Georgia"/>
                <a:cs typeface="Georgia"/>
              </a:defRPr>
            </a:defPPr>
          </a:lstStyle>
          <a:p xmlns:a="http://schemas.openxmlformats.org/drawingml/2006/main">
            <a:pPr>
              <a:defRPr sz="2700" b="0">
                <a:solidFill>
                  <a:srgbClr val="493342"/>
                </a:solidFill>
                <a:latin typeface="Georgia"/>
                <a:ea typeface="Georgia"/>
                <a:cs typeface="Georgia"/>
              </a:defRPr>
            </a:pPr>
            <a:r>
              <a:rPr sz="2700" b="0">
                <a:solidFill>
                  <a:srgbClr val="493342"/>
                </a:solidFill>
                <a:latin typeface="Georgia"/>
                <a:ea typeface="Georgia"/>
                <a:cs typeface="Georgia"/>
              </a:rPr>
              <a:t>Working now</a:t>
            </a:r>
          </a:p>
        </p:txBody>
      </p:sp>
      <p:sp>
        <p:nvSpPr>
          <p:cNvPr id="3" name="">
            <a:extLst xmlns:a="http://schemas.openxmlformats.org/drawingml/2006/main">
              <a:ext uri="{FF2B5EF4-FFF2-40B4-BE49-F238E27FC236}">
                <a16:creationId xmlns:a16="http://schemas.microsoft.com/office/drawing/2014/main" id="{6267B978-BC43-490F-B337-2FC8551586C8}"/>
              </a:ext>
            </a:extLst>
          </p:cNvPr>
          <p:cNvSpPr>
            <a:spLocks xmlns:a="http://schemas.openxmlformats.org/drawingml/2006/main" noGrp="1"/>
          </p:cNvSpPr>
          <p:nvPr/>
        </p:nvSpPr>
        <p:spPr>
          <a:xfrm xmlns:a="http://schemas.openxmlformats.org/drawingml/2006/main">
            <a:off x="666750" y="2762250"/>
            <a:ext cx="4953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93342"/>
                </a:solidFill>
                <a:latin typeface="Arial"/>
                <a:ea typeface="Arial"/>
                <a:cs typeface="Arial"/>
              </a:defRPr>
            </a:defPPr>
          </a:lstStyle>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Entered balances and local invoices</a:t>
            </a:r>
          </a:p>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Deadline-aware tuition planning</a:t>
            </a:r>
          </a:p>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Explicitly approved sandbox payments</a:t>
            </a:r>
          </a:p>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Reference data and bilingual help</a:t>
            </a:r>
          </a:p>
        </p:txBody>
      </p:sp>
      <p:sp>
        <p:nvSpPr>
          <p:cNvPr id="4" name="">
            <a:extLst xmlns:a="http://schemas.openxmlformats.org/drawingml/2006/main">
              <a:ext uri="{FF2B5EF4-FFF2-40B4-BE49-F238E27FC236}">
                <a16:creationId xmlns:a16="http://schemas.microsoft.com/office/drawing/2014/main" id="{607EBBF0-628C-4E13-8593-134A7BADC51A}"/>
              </a:ext>
            </a:extLst>
          </p:cNvPr>
          <p:cNvSpPr>
            <a:spLocks xmlns:a="http://schemas.openxmlformats.org/drawingml/2006/main" noGrp="1"/>
          </p:cNvSpPr>
          <p:nvPr/>
        </p:nvSpPr>
        <p:spPr>
          <a:xfrm xmlns:a="http://schemas.openxmlformats.org/drawingml/2006/main">
            <a:off x="6762750" y="18478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493342"/>
                </a:solidFill>
                <a:latin typeface="Georgia"/>
                <a:ea typeface="Georgia"/>
                <a:cs typeface="Georgia"/>
              </a:defRPr>
            </a:defPPr>
          </a:lstStyle>
          <a:p xmlns:a="http://schemas.openxmlformats.org/drawingml/2006/main">
            <a:pPr>
              <a:defRPr sz="2700" b="0">
                <a:solidFill>
                  <a:srgbClr val="493342"/>
                </a:solidFill>
                <a:latin typeface="Georgia"/>
                <a:ea typeface="Georgia"/>
                <a:cs typeface="Georgia"/>
              </a:defRPr>
            </a:pPr>
            <a:r>
              <a:rPr sz="2700" b="0">
                <a:solidFill>
                  <a:srgbClr val="493342"/>
                </a:solidFill>
                <a:latin typeface="Georgia"/>
                <a:ea typeface="Georgia"/>
                <a:cs typeface="Georgia"/>
              </a:rPr>
              <a:t>Next validation</a:t>
            </a:r>
          </a:p>
        </p:txBody>
      </p:sp>
      <p:sp>
        <p:nvSpPr>
          <p:cNvPr id="5" name="">
            <a:extLst xmlns:a="http://schemas.openxmlformats.org/drawingml/2006/main">
              <a:ext uri="{FF2B5EF4-FFF2-40B4-BE49-F238E27FC236}">
                <a16:creationId xmlns:a16="http://schemas.microsoft.com/office/drawing/2014/main" id="{6B39C3F0-E547-4025-994B-3E9EE098037C}"/>
              </a:ext>
            </a:extLst>
          </p:cNvPr>
          <p:cNvSpPr>
            <a:spLocks xmlns:a="http://schemas.openxmlformats.org/drawingml/2006/main" noGrp="1"/>
          </p:cNvSpPr>
          <p:nvPr/>
        </p:nvSpPr>
        <p:spPr>
          <a:xfrm xmlns:a="http://schemas.openxmlformats.org/drawingml/2006/main">
            <a:off x="6762750" y="276225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93342"/>
                </a:solidFill>
                <a:latin typeface="Arial"/>
                <a:ea typeface="Arial"/>
                <a:cs typeface="Arial"/>
              </a:defRPr>
            </a:defPPr>
          </a:lstStyle>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Observe 5–8 consenting students</a:t>
            </a:r>
          </a:p>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Measure completion and confusion</a:t>
            </a:r>
          </a:p>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Retest the changes they need</a:t>
            </a:r>
          </a:p>
          <a:p xmlns:a="http://schemas.openxmlformats.org/drawingml/2006/main">
            <a:pPr>
              <a:defRPr sz="2100" b="0">
                <a:solidFill>
                  <a:srgbClr val="493342"/>
                </a:solidFill>
                <a:latin typeface="Arial"/>
                <a:ea typeface="Arial"/>
                <a:cs typeface="Arial"/>
              </a:defRPr>
            </a:pPr>
            <a:r>
              <a:rPr sz="2100" b="0">
                <a:solidFill>
                  <a:srgbClr val="493342"/>
                </a:solidFill>
                <a:latin typeface="Arial"/>
                <a:ea typeface="Arial"/>
                <a:cs typeface="Arial"/>
              </a:rPr>
              <a:t>Validate licensed payment integrations</a:t>
            </a:r>
          </a:p>
        </p:txBody>
      </p:sp>
      <p:sp>
        <p:nvSpPr>
          <p:cNvPr id="6" name="">
            <a:extLst xmlns:a="http://schemas.openxmlformats.org/drawingml/2006/main">
              <a:ext uri="{FF2B5EF4-FFF2-40B4-BE49-F238E27FC236}">
                <a16:creationId xmlns:a16="http://schemas.microsoft.com/office/drawing/2014/main" id="{77E97352-7812-4D84-8085-724E7636DE57}"/>
              </a:ext>
            </a:extLst>
          </p:cNvPr>
          <p:cNvSpPr>
            <a:spLocks xmlns:a="http://schemas.openxmlformats.org/drawingml/2006/main" noGrp="1"/>
          </p:cNvSpPr>
          <p:nvPr/>
        </p:nvSpPr>
        <p:spPr>
          <a:xfrm xmlns:a="http://schemas.openxmlformats.org/drawingml/2006/main">
            <a:off x="666750" y="6000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86B70"/>
                </a:solidFill>
                <a:latin typeface="Arial"/>
                <a:ea typeface="Arial"/>
                <a:cs typeface="Arial"/>
              </a:defRPr>
            </a:defPPr>
          </a:lstStyle>
          <a:p xmlns:a="http://schemas.openxmlformats.org/drawingml/2006/main">
            <a:pPr>
              <a:defRPr sz="1350" b="0">
                <a:solidFill>
                  <a:srgbClr val="786B70"/>
                </a:solidFill>
                <a:latin typeface="Arial"/>
                <a:ea typeface="Arial"/>
                <a:cs typeface="Arial"/>
              </a:defRPr>
            </a:pPr>
            <a:r>
              <a:rPr sz="1350" b="0">
                <a:solidFill>
                  <a:srgbClr val="786B70"/>
                </a:solidFill>
                <a:latin typeface="Arial"/>
                <a:ea typeface="Arial"/>
                <a:cs typeface="Arial"/>
              </a:rPr>
              <a:t>Student study prepared, not conducted. FinMate is not a bank or a production financial service.</a:t>
            </a:r>
          </a:p>
        </p:txBody>
      </p:sp>
    </p:spTree>
    <p:extLst>
      <p:ext uri="{BB962C8B-B14F-4D97-AF65-F5344CB8AC3E}">
        <p14:creationId xmlns:p14="http://schemas.microsoft.com/office/powerpoint/2010/main" val="20704819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2026-10-11T21:22:24.2560000Z</dcterms:created>
  <dcterms:modified xsi:type="dcterms:W3CDTF">2026-10-11T21:22:24.2560000Z</dcterms:modified>
</coreProperties>
</file>